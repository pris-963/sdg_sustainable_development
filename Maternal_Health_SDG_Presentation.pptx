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67" r:id="rId14"/>
    <p:sldId id="268" r:id="rId15"/>
    <p:sldId id="26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344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821A-8315-4B53-DA2E-81A912B99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657C2-73DA-111A-7EFE-2157E5D809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766E3-6879-323B-7759-C6386C076C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9FBE45-A0EB-08CF-C2CC-6FCE52894F2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10704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788"/>
        </a:solidFill>
        <a:effectLst/>
      </p:bgPr>
    </p:bg>
    <p:spTree>
      <p:nvGrpSpPr>
        <p:cNvPr id="1" name=""/>
        <p:cNvGrpSpPr/>
        <p:nvPr/>
      </p:nvGrpSpPr>
      <p:grpSpPr>
        <a:xfrm>
          <a:off x="0" y="0"/>
          <a:ext cx="0" cy="0"/>
          <a:chOff x="0" y="0"/>
          <a:chExt cx="0" cy="0"/>
        </a:xfrm>
      </p:grpSpPr>
      <p:sp>
        <p:nvSpPr>
          <p:cNvPr id="2" name="Text 0"/>
          <p:cNvSpPr txBox="1"/>
          <p:nvPr/>
        </p:nvSpPr>
        <p:spPr>
          <a:xfrm>
            <a:off x="457200" y="1371600"/>
            <a:ext cx="8229600" cy="914400"/>
          </a:xfrm>
          <a:prstGeom prst="rect">
            <a:avLst/>
          </a:prstGeom>
          <a:noFill/>
          <a:ln/>
        </p:spPr>
        <p:txBody>
          <a:bodyPr wrap="square" rtlCol="0" anchor="ctr"/>
          <a:lstStyle/>
          <a:p>
            <a:pPr marL="0" indent="0" algn="ctr">
              <a:buNone/>
            </a:pPr>
            <a:r>
              <a:rPr lang="en-US" sz="5400" b="1" dirty="0">
                <a:solidFill>
                  <a:srgbClr val="FFFFFF"/>
                </a:solidFill>
              </a:rPr>
              <a:t>Tracking Maternal Health Progress</a:t>
            </a:r>
            <a:endParaRPr lang="en-US" sz="5400" dirty="0"/>
          </a:p>
        </p:txBody>
      </p:sp>
      <p:sp>
        <p:nvSpPr>
          <p:cNvPr id="3" name="Text 1"/>
          <p:cNvSpPr txBox="1"/>
          <p:nvPr/>
        </p:nvSpPr>
        <p:spPr>
          <a:xfrm>
            <a:off x="400929" y="2583181"/>
            <a:ext cx="8229600" cy="548640"/>
          </a:xfrm>
          <a:prstGeom prst="rect">
            <a:avLst/>
          </a:prstGeom>
          <a:noFill/>
          <a:ln/>
        </p:spPr>
        <p:txBody>
          <a:bodyPr wrap="square" rtlCol="0" anchor="ctr"/>
          <a:lstStyle/>
          <a:p>
            <a:pPr marL="0" indent="0" algn="ctr">
              <a:buNone/>
            </a:pPr>
            <a:r>
              <a:rPr lang="en-US" sz="2800" dirty="0">
                <a:solidFill>
                  <a:srgbClr val="00BCD4"/>
                </a:solidFill>
              </a:rPr>
              <a:t>Toward SDG 3.1</a:t>
            </a:r>
            <a:endParaRPr lang="en-US" sz="2800" dirty="0"/>
          </a:p>
        </p:txBody>
      </p:sp>
      <p:sp>
        <p:nvSpPr>
          <p:cNvPr id="4" name="Text 2"/>
          <p:cNvSpPr txBox="1"/>
          <p:nvPr/>
        </p:nvSpPr>
        <p:spPr>
          <a:xfrm>
            <a:off x="457200" y="3200400"/>
            <a:ext cx="8229600" cy="320040"/>
          </a:xfrm>
          <a:prstGeom prst="rect">
            <a:avLst/>
          </a:prstGeom>
          <a:noFill/>
          <a:ln/>
        </p:spPr>
        <p:txBody>
          <a:bodyPr wrap="square" rtlCol="0" anchor="ctr"/>
          <a:lstStyle/>
          <a:p>
            <a:pPr marL="0" indent="0" algn="ctr">
              <a:buNone/>
            </a:pPr>
            <a:r>
              <a:rPr lang="en-US" sz="1400" dirty="0">
                <a:solidFill>
                  <a:srgbClr val="FFFFFF"/>
                </a:solidFill>
              </a:rPr>
              <a:t>AI for Sustainability Virtual Internship</a:t>
            </a:r>
            <a:endParaRPr lang="en-US" sz="1400" dirty="0"/>
          </a:p>
        </p:txBody>
      </p:sp>
      <p:sp>
        <p:nvSpPr>
          <p:cNvPr id="5" name="Text 3"/>
          <p:cNvSpPr txBox="1"/>
          <p:nvPr/>
        </p:nvSpPr>
        <p:spPr>
          <a:xfrm>
            <a:off x="457200" y="3566160"/>
            <a:ext cx="8229600" cy="320040"/>
          </a:xfrm>
          <a:prstGeom prst="rect">
            <a:avLst/>
          </a:prstGeom>
          <a:noFill/>
          <a:ln/>
        </p:spPr>
        <p:txBody>
          <a:bodyPr wrap="square" rtlCol="0" anchor="ctr"/>
          <a:lstStyle/>
          <a:p>
            <a:pPr marL="0" indent="0" algn="ctr">
              <a:buNone/>
            </a:pPr>
            <a:r>
              <a:rPr lang="en-US" sz="1400" dirty="0">
                <a:solidFill>
                  <a:srgbClr val="FFFFFF"/>
                </a:solidFill>
              </a:rPr>
              <a:t>1M1B – IBM SkillsBuild &amp; AICTE</a:t>
            </a:r>
            <a:endParaRPr lang="en-US" sz="1400" dirty="0"/>
          </a:p>
        </p:txBody>
      </p:sp>
      <p:sp>
        <p:nvSpPr>
          <p:cNvPr id="6" name="Text 4"/>
          <p:cNvSpPr txBox="1"/>
          <p:nvPr/>
        </p:nvSpPr>
        <p:spPr>
          <a:xfrm>
            <a:off x="457200" y="3931920"/>
            <a:ext cx="8229600" cy="320040"/>
          </a:xfrm>
          <a:prstGeom prst="rect">
            <a:avLst/>
          </a:prstGeom>
          <a:noFill/>
          <a:ln/>
        </p:spPr>
        <p:txBody>
          <a:bodyPr wrap="square" rtlCol="0" anchor="ctr"/>
          <a:lstStyle/>
          <a:p>
            <a:pPr marL="0" indent="0" algn="ctr">
              <a:buNone/>
            </a:pPr>
            <a:r>
              <a:rPr lang="en-US" sz="1400" dirty="0">
                <a:solidFill>
                  <a:srgbClr val="FFFFFF"/>
                </a:solidFill>
              </a:rPr>
              <a:t>Rivan </a:t>
            </a:r>
            <a:r>
              <a:rPr lang="en-US" sz="1400" dirty="0" err="1">
                <a:solidFill>
                  <a:srgbClr val="FFFFFF"/>
                </a:solidFill>
              </a:rPr>
              <a:t>Dsilva</a:t>
            </a:r>
            <a:r>
              <a:rPr lang="en-US" sz="1400" dirty="0">
                <a:solidFill>
                  <a:srgbClr val="FFFFFF"/>
                </a:solidFill>
              </a:rPr>
              <a:t> | RV </a:t>
            </a:r>
            <a:r>
              <a:rPr lang="en-US" sz="1400" dirty="0" err="1">
                <a:solidFill>
                  <a:srgbClr val="FFFFFF"/>
                </a:solidFill>
              </a:rPr>
              <a:t>Universitty</a:t>
            </a:r>
            <a:endParaRPr lang="en-US" sz="1400" dirty="0">
              <a:solidFill>
                <a:srgbClr val="FFFFFF"/>
              </a:solidFill>
            </a:endParaRPr>
          </a:p>
          <a:p>
            <a:pPr marL="0" indent="0" algn="ctr">
              <a:buNone/>
            </a:pPr>
            <a:r>
              <a:rPr lang="en-US" sz="1400" dirty="0">
                <a:solidFill>
                  <a:srgbClr val="FFFFFF"/>
                </a:solidFill>
              </a:rPr>
              <a:t>STU691cae1ca00661763487260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SDG Alignment</a:t>
            </a:r>
            <a:endParaRPr lang="en-US" sz="4000" dirty="0"/>
          </a:p>
        </p:txBody>
      </p:sp>
      <p:sp>
        <p:nvSpPr>
          <p:cNvPr id="4" name="Text 2"/>
          <p:cNvSpPr txBox="1"/>
          <p:nvPr/>
        </p:nvSpPr>
        <p:spPr>
          <a:xfrm>
            <a:off x="457200" y="1097280"/>
            <a:ext cx="8229600" cy="365760"/>
          </a:xfrm>
          <a:prstGeom prst="rect">
            <a:avLst/>
          </a:prstGeom>
          <a:noFill/>
          <a:ln/>
        </p:spPr>
        <p:txBody>
          <a:bodyPr wrap="square" rtlCol="0" anchor="ctr"/>
          <a:lstStyle/>
          <a:p>
            <a:pPr marL="0" indent="0">
              <a:buNone/>
            </a:pPr>
            <a:r>
              <a:rPr lang="en-US" sz="2000" b="1" dirty="0">
                <a:solidFill>
                  <a:srgbClr val="1F4788"/>
                </a:solidFill>
              </a:rPr>
              <a:t>SDG 3: Good Health and Well-being</a:t>
            </a:r>
            <a:endParaRPr lang="en-US" sz="2000" dirty="0"/>
          </a:p>
        </p:txBody>
      </p:sp>
      <p:sp>
        <p:nvSpPr>
          <p:cNvPr id="5" name="Shape 3"/>
          <p:cNvSpPr/>
          <p:nvPr/>
        </p:nvSpPr>
        <p:spPr>
          <a:xfrm>
            <a:off x="914400" y="1645920"/>
            <a:ext cx="7315200" cy="1371600"/>
          </a:xfrm>
          <a:prstGeom prst="roundRect">
            <a:avLst/>
          </a:prstGeom>
          <a:solidFill>
            <a:srgbClr val="4A90E2">
              <a:alpha val="80000"/>
            </a:srgbClr>
          </a:solidFill>
          <a:ln w="25400">
            <a:solidFill>
              <a:srgbClr val="1F4788"/>
            </a:solidFill>
            <a:prstDash val="solid"/>
          </a:ln>
        </p:spPr>
      </p:sp>
      <p:sp>
        <p:nvSpPr>
          <p:cNvPr id="6" name="Text 4"/>
          <p:cNvSpPr txBox="1"/>
          <p:nvPr/>
        </p:nvSpPr>
        <p:spPr>
          <a:xfrm>
            <a:off x="1188720" y="1783080"/>
            <a:ext cx="6766560" cy="320040"/>
          </a:xfrm>
          <a:prstGeom prst="rect">
            <a:avLst/>
          </a:prstGeom>
          <a:noFill/>
          <a:ln/>
        </p:spPr>
        <p:txBody>
          <a:bodyPr wrap="square" rtlCol="0" anchor="ctr"/>
          <a:lstStyle/>
          <a:p>
            <a:pPr marL="0" indent="0">
              <a:buNone/>
            </a:pPr>
            <a:r>
              <a:rPr lang="en-US" sz="1800" b="1" dirty="0">
                <a:solidFill>
                  <a:srgbClr val="1F4788"/>
                </a:solidFill>
              </a:rPr>
              <a:t>Target 3.1</a:t>
            </a:r>
            <a:endParaRPr lang="en-US" sz="1800" dirty="0"/>
          </a:p>
        </p:txBody>
      </p:sp>
      <p:sp>
        <p:nvSpPr>
          <p:cNvPr id="7" name="Text 5"/>
          <p:cNvSpPr txBox="1"/>
          <p:nvPr/>
        </p:nvSpPr>
        <p:spPr>
          <a:xfrm>
            <a:off x="1188720" y="2194560"/>
            <a:ext cx="6766560" cy="731520"/>
          </a:xfrm>
          <a:prstGeom prst="rect">
            <a:avLst/>
          </a:prstGeom>
          <a:noFill/>
          <a:ln/>
        </p:spPr>
        <p:txBody>
          <a:bodyPr wrap="square" rtlCol="0" anchor="ctr"/>
          <a:lstStyle/>
          <a:p>
            <a:pPr marL="0" indent="0">
              <a:buNone/>
            </a:pPr>
            <a:r>
              <a:rPr lang="en-US" sz="1400" dirty="0">
                <a:solidFill>
                  <a:srgbClr val="1F1F1F"/>
                </a:solidFill>
              </a:rPr>
              <a:t>Reduce global maternal mortality ratio to less than 70 deaths per 100,000 live births by 2030</a:t>
            </a:r>
            <a:endParaRPr lang="en-US" sz="1400" dirty="0"/>
          </a:p>
        </p:txBody>
      </p:sp>
      <p:sp>
        <p:nvSpPr>
          <p:cNvPr id="8" name="Text 6"/>
          <p:cNvSpPr txBox="1"/>
          <p:nvPr/>
        </p:nvSpPr>
        <p:spPr>
          <a:xfrm>
            <a:off x="457200" y="3200400"/>
            <a:ext cx="4114800" cy="320040"/>
          </a:xfrm>
          <a:prstGeom prst="rect">
            <a:avLst/>
          </a:prstGeom>
          <a:noFill/>
          <a:ln/>
        </p:spPr>
        <p:txBody>
          <a:bodyPr wrap="square" rtlCol="0" anchor="ctr"/>
          <a:lstStyle/>
          <a:p>
            <a:pPr marL="0" indent="0">
              <a:buNone/>
            </a:pPr>
            <a:r>
              <a:rPr lang="en-US" sz="1400" b="1" dirty="0">
                <a:solidFill>
                  <a:srgbClr val="1F4788"/>
                </a:solidFill>
              </a:rPr>
              <a:t>Why Maternal Health Matters:</a:t>
            </a:r>
            <a:endParaRPr lang="en-US" sz="1400" dirty="0"/>
          </a:p>
        </p:txBody>
      </p:sp>
      <p:sp>
        <p:nvSpPr>
          <p:cNvPr id="9" name="Text 7"/>
          <p:cNvSpPr txBox="1"/>
          <p:nvPr/>
        </p:nvSpPr>
        <p:spPr>
          <a:xfrm>
            <a:off x="640080" y="3611880"/>
            <a:ext cx="3931920" cy="274320"/>
          </a:xfrm>
          <a:prstGeom prst="rect">
            <a:avLst/>
          </a:prstGeom>
          <a:noFill/>
          <a:ln/>
        </p:spPr>
        <p:txBody>
          <a:bodyPr wrap="square" rtlCol="0" anchor="ctr"/>
          <a:lstStyle/>
          <a:p>
            <a:pPr marL="0" indent="0">
              <a:buNone/>
            </a:pPr>
            <a:r>
              <a:rPr lang="en-US" sz="1200" dirty="0">
                <a:solidFill>
                  <a:srgbClr val="1F1F1F"/>
                </a:solidFill>
              </a:rPr>
              <a:t>• Critical public health indicator</a:t>
            </a:r>
            <a:endParaRPr lang="en-US" sz="1200" dirty="0"/>
          </a:p>
        </p:txBody>
      </p:sp>
      <p:sp>
        <p:nvSpPr>
          <p:cNvPr id="10" name="Text 8"/>
          <p:cNvSpPr txBox="1"/>
          <p:nvPr/>
        </p:nvSpPr>
        <p:spPr>
          <a:xfrm>
            <a:off x="640080" y="3931920"/>
            <a:ext cx="3931920" cy="274320"/>
          </a:xfrm>
          <a:prstGeom prst="rect">
            <a:avLst/>
          </a:prstGeom>
          <a:noFill/>
          <a:ln/>
        </p:spPr>
        <p:txBody>
          <a:bodyPr wrap="square" rtlCol="0" anchor="ctr"/>
          <a:lstStyle/>
          <a:p>
            <a:pPr marL="0" indent="0">
              <a:buNone/>
            </a:pPr>
            <a:r>
              <a:rPr lang="en-US" sz="1200" dirty="0">
                <a:solidFill>
                  <a:srgbClr val="1F1F1F"/>
                </a:solidFill>
              </a:rPr>
              <a:t>• Reflects healthcare system quality</a:t>
            </a:r>
            <a:endParaRPr lang="en-US" sz="1200" dirty="0"/>
          </a:p>
        </p:txBody>
      </p:sp>
      <p:sp>
        <p:nvSpPr>
          <p:cNvPr id="11" name="Text 9"/>
          <p:cNvSpPr txBox="1"/>
          <p:nvPr/>
        </p:nvSpPr>
        <p:spPr>
          <a:xfrm>
            <a:off x="640080" y="4251960"/>
            <a:ext cx="3931920" cy="274320"/>
          </a:xfrm>
          <a:prstGeom prst="rect">
            <a:avLst/>
          </a:prstGeom>
          <a:noFill/>
          <a:ln/>
        </p:spPr>
        <p:txBody>
          <a:bodyPr wrap="square" rtlCol="0" anchor="ctr"/>
          <a:lstStyle/>
          <a:p>
            <a:pPr marL="0" indent="0">
              <a:buNone/>
            </a:pPr>
            <a:r>
              <a:rPr lang="en-US" sz="1200" dirty="0">
                <a:solidFill>
                  <a:srgbClr val="1F1F1F"/>
                </a:solidFill>
              </a:rPr>
              <a:t>• Sustainable development requirement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Problem Statement</a:t>
            </a:r>
            <a:endParaRPr lang="en-US" sz="4000" dirty="0"/>
          </a:p>
        </p:txBody>
      </p:sp>
      <p:sp>
        <p:nvSpPr>
          <p:cNvPr id="4" name="Shape 2"/>
          <p:cNvSpPr/>
          <p:nvPr/>
        </p:nvSpPr>
        <p:spPr>
          <a:xfrm>
            <a:off x="457200" y="1097280"/>
            <a:ext cx="8229600" cy="1097280"/>
          </a:xfrm>
          <a:prstGeom prst="roundRect">
            <a:avLst/>
          </a:prstGeom>
          <a:solidFill>
            <a:srgbClr val="FFF3E0"/>
          </a:solidFill>
          <a:ln w="12700">
            <a:solidFill>
              <a:srgbClr val="FF9800"/>
            </a:solidFill>
            <a:prstDash val="solid"/>
          </a:ln>
        </p:spPr>
      </p:sp>
      <p:sp>
        <p:nvSpPr>
          <p:cNvPr id="5" name="Text 3"/>
          <p:cNvSpPr txBox="1"/>
          <p:nvPr/>
        </p:nvSpPr>
        <p:spPr>
          <a:xfrm>
            <a:off x="731520" y="1234440"/>
            <a:ext cx="7680960" cy="822960"/>
          </a:xfrm>
          <a:prstGeom prst="rect">
            <a:avLst/>
          </a:prstGeom>
          <a:noFill/>
          <a:ln/>
        </p:spPr>
        <p:txBody>
          <a:bodyPr wrap="square" rtlCol="0" anchor="ctr"/>
          <a:lstStyle/>
          <a:p>
            <a:pPr marL="0" indent="0">
              <a:buNone/>
            </a:pPr>
            <a:r>
              <a:rPr lang="en-US" sz="1400" i="1" dirty="0">
                <a:solidFill>
                  <a:srgbClr val="1F1F1F"/>
                </a:solidFill>
              </a:rPr>
              <a:t>"How might we use AI and data analysis to track maternal mortality trends and predict future MMR so that progress toward SDG 3.1 can be monitored more effectively?"</a:t>
            </a:r>
            <a:endParaRPr lang="en-US" sz="1400" dirty="0"/>
          </a:p>
        </p:txBody>
      </p:sp>
      <p:sp>
        <p:nvSpPr>
          <p:cNvPr id="6" name="Text 4"/>
          <p:cNvSpPr txBox="1"/>
          <p:nvPr/>
        </p:nvSpPr>
        <p:spPr>
          <a:xfrm>
            <a:off x="457200" y="2377440"/>
            <a:ext cx="8229600" cy="274320"/>
          </a:xfrm>
          <a:prstGeom prst="rect">
            <a:avLst/>
          </a:prstGeom>
          <a:noFill/>
          <a:ln/>
        </p:spPr>
        <p:txBody>
          <a:bodyPr wrap="square" rtlCol="0" anchor="ctr"/>
          <a:lstStyle/>
          <a:p>
            <a:pPr marL="0" indent="0">
              <a:buNone/>
            </a:pPr>
            <a:r>
              <a:rPr lang="en-US" sz="1400" b="1" dirty="0">
                <a:solidFill>
                  <a:srgbClr val="1F4788"/>
                </a:solidFill>
              </a:rPr>
              <a:t>Key Challenges:</a:t>
            </a:r>
            <a:endParaRPr lang="en-US" sz="1400" dirty="0"/>
          </a:p>
        </p:txBody>
      </p:sp>
      <p:sp>
        <p:nvSpPr>
          <p:cNvPr id="7" name="Text 5"/>
          <p:cNvSpPr txBox="1"/>
          <p:nvPr/>
        </p:nvSpPr>
        <p:spPr>
          <a:xfrm>
            <a:off x="640080" y="2788920"/>
            <a:ext cx="7863840" cy="274320"/>
          </a:xfrm>
          <a:prstGeom prst="rect">
            <a:avLst/>
          </a:prstGeom>
          <a:noFill/>
          <a:ln/>
        </p:spPr>
        <p:txBody>
          <a:bodyPr wrap="square" rtlCol="0" anchor="ctr"/>
          <a:lstStyle/>
          <a:p>
            <a:pPr marL="0" indent="0">
              <a:buNone/>
            </a:pPr>
            <a:r>
              <a:rPr lang="en-US" sz="1200" dirty="0">
                <a:solidFill>
                  <a:srgbClr val="1F1F1F"/>
                </a:solidFill>
              </a:rPr>
              <a:t>✓ Maternal mortality needs continuous monitoring</a:t>
            </a:r>
            <a:endParaRPr lang="en-US" sz="1200" dirty="0"/>
          </a:p>
        </p:txBody>
      </p:sp>
      <p:sp>
        <p:nvSpPr>
          <p:cNvPr id="8" name="Text 6"/>
          <p:cNvSpPr txBox="1"/>
          <p:nvPr/>
        </p:nvSpPr>
        <p:spPr>
          <a:xfrm>
            <a:off x="640080" y="3108960"/>
            <a:ext cx="7863840" cy="274320"/>
          </a:xfrm>
          <a:prstGeom prst="rect">
            <a:avLst/>
          </a:prstGeom>
          <a:noFill/>
          <a:ln/>
        </p:spPr>
        <p:txBody>
          <a:bodyPr wrap="square" rtlCol="0" anchor="ctr"/>
          <a:lstStyle/>
          <a:p>
            <a:pPr marL="0" indent="0">
              <a:buNone/>
            </a:pPr>
            <a:r>
              <a:rPr lang="en-US" sz="1200" dirty="0">
                <a:solidFill>
                  <a:srgbClr val="1F1F1F"/>
                </a:solidFill>
              </a:rPr>
              <a:t>✓ Historical data contains important trends</a:t>
            </a:r>
            <a:endParaRPr lang="en-US" sz="1200" dirty="0"/>
          </a:p>
        </p:txBody>
      </p:sp>
      <p:sp>
        <p:nvSpPr>
          <p:cNvPr id="9" name="Text 7"/>
          <p:cNvSpPr txBox="1"/>
          <p:nvPr/>
        </p:nvSpPr>
        <p:spPr>
          <a:xfrm>
            <a:off x="640080" y="3429000"/>
            <a:ext cx="7863840" cy="274320"/>
          </a:xfrm>
          <a:prstGeom prst="rect">
            <a:avLst/>
          </a:prstGeom>
          <a:noFill/>
          <a:ln/>
        </p:spPr>
        <p:txBody>
          <a:bodyPr wrap="square" rtlCol="0" anchor="ctr"/>
          <a:lstStyle/>
          <a:p>
            <a:pPr marL="0" indent="0">
              <a:buNone/>
            </a:pPr>
            <a:r>
              <a:rPr lang="en-US" sz="1200" dirty="0">
                <a:solidFill>
                  <a:srgbClr val="1F1F1F"/>
                </a:solidFill>
              </a:rPr>
              <a:t>✓ Manual analysis makes comparison difficult</a:t>
            </a:r>
            <a:endParaRPr lang="en-US" sz="1200" dirty="0"/>
          </a:p>
        </p:txBody>
      </p:sp>
      <p:sp>
        <p:nvSpPr>
          <p:cNvPr id="10" name="Text 8"/>
          <p:cNvSpPr txBox="1"/>
          <p:nvPr/>
        </p:nvSpPr>
        <p:spPr>
          <a:xfrm>
            <a:off x="640080" y="3749040"/>
            <a:ext cx="7863840" cy="274320"/>
          </a:xfrm>
          <a:prstGeom prst="rect">
            <a:avLst/>
          </a:prstGeom>
          <a:noFill/>
          <a:ln/>
        </p:spPr>
        <p:txBody>
          <a:bodyPr wrap="square" rtlCol="0" anchor="ctr"/>
          <a:lstStyle/>
          <a:p>
            <a:pPr marL="0" indent="0">
              <a:buNone/>
            </a:pPr>
            <a:r>
              <a:rPr lang="en-US" sz="1200" dirty="0">
                <a:solidFill>
                  <a:srgbClr val="1F1F1F"/>
                </a:solidFill>
              </a:rPr>
              <a:t>✓ Future estimation requires advanced methods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Target Users &amp; Impact</a:t>
            </a:r>
            <a:endParaRPr lang="en-US" sz="4000" dirty="0"/>
          </a:p>
        </p:txBody>
      </p:sp>
      <p:sp>
        <p:nvSpPr>
          <p:cNvPr id="4" name="Shape 2"/>
          <p:cNvSpPr/>
          <p:nvPr/>
        </p:nvSpPr>
        <p:spPr>
          <a:xfrm>
            <a:off x="457200" y="1097280"/>
            <a:ext cx="3931920" cy="3474720"/>
          </a:xfrm>
          <a:prstGeom prst="roundRect">
            <a:avLst/>
          </a:prstGeom>
          <a:solidFill>
            <a:srgbClr val="4A90E2">
              <a:alpha val="85000"/>
            </a:srgbClr>
          </a:solidFill>
          <a:ln w="12700">
            <a:solidFill>
              <a:srgbClr val="1F4788"/>
            </a:solidFill>
            <a:prstDash val="solid"/>
          </a:ln>
        </p:spPr>
      </p:sp>
      <p:sp>
        <p:nvSpPr>
          <p:cNvPr id="5" name="Text 3"/>
          <p:cNvSpPr txBox="1"/>
          <p:nvPr/>
        </p:nvSpPr>
        <p:spPr>
          <a:xfrm>
            <a:off x="640080" y="1234440"/>
            <a:ext cx="3566160" cy="274320"/>
          </a:xfrm>
          <a:prstGeom prst="rect">
            <a:avLst/>
          </a:prstGeom>
          <a:noFill/>
          <a:ln/>
        </p:spPr>
        <p:txBody>
          <a:bodyPr wrap="square" rtlCol="0" anchor="ctr"/>
          <a:lstStyle/>
          <a:p>
            <a:pPr marL="0" indent="0">
              <a:buNone/>
            </a:pPr>
            <a:r>
              <a:rPr lang="en-US" sz="1400" b="1" dirty="0">
                <a:solidFill>
                  <a:srgbClr val="1F4788"/>
                </a:solidFill>
              </a:rPr>
              <a:t>Primary Users</a:t>
            </a:r>
            <a:endParaRPr lang="en-US" sz="1400" dirty="0"/>
          </a:p>
        </p:txBody>
      </p:sp>
      <p:sp>
        <p:nvSpPr>
          <p:cNvPr id="6" name="Text 4"/>
          <p:cNvSpPr txBox="1"/>
          <p:nvPr/>
        </p:nvSpPr>
        <p:spPr>
          <a:xfrm>
            <a:off x="822960" y="1600200"/>
            <a:ext cx="3200400" cy="274320"/>
          </a:xfrm>
          <a:prstGeom prst="rect">
            <a:avLst/>
          </a:prstGeom>
          <a:noFill/>
          <a:ln/>
        </p:spPr>
        <p:txBody>
          <a:bodyPr wrap="square" rtlCol="0" anchor="ctr"/>
          <a:lstStyle/>
          <a:p>
            <a:pPr marL="0" indent="0">
              <a:buNone/>
            </a:pPr>
            <a:r>
              <a:rPr lang="en-US" sz="1100" dirty="0">
                <a:solidFill>
                  <a:srgbClr val="1F1F1F"/>
                </a:solidFill>
              </a:rPr>
              <a:t>• Public-health analysts</a:t>
            </a:r>
            <a:endParaRPr lang="en-US" sz="1100" dirty="0"/>
          </a:p>
        </p:txBody>
      </p:sp>
      <p:sp>
        <p:nvSpPr>
          <p:cNvPr id="7" name="Text 5"/>
          <p:cNvSpPr txBox="1"/>
          <p:nvPr/>
        </p:nvSpPr>
        <p:spPr>
          <a:xfrm>
            <a:off x="822960" y="1920240"/>
            <a:ext cx="3200400" cy="274320"/>
          </a:xfrm>
          <a:prstGeom prst="rect">
            <a:avLst/>
          </a:prstGeom>
          <a:noFill/>
          <a:ln/>
        </p:spPr>
        <p:txBody>
          <a:bodyPr wrap="square" rtlCol="0" anchor="ctr"/>
          <a:lstStyle/>
          <a:p>
            <a:pPr marL="0" indent="0">
              <a:buNone/>
            </a:pPr>
            <a:r>
              <a:rPr lang="en-US" sz="1100" dirty="0">
                <a:solidFill>
                  <a:srgbClr val="1F1F1F"/>
                </a:solidFill>
              </a:rPr>
              <a:t>• Government SDG teams</a:t>
            </a:r>
            <a:endParaRPr lang="en-US" sz="1100" dirty="0"/>
          </a:p>
        </p:txBody>
      </p:sp>
      <p:sp>
        <p:nvSpPr>
          <p:cNvPr id="8" name="Text 6"/>
          <p:cNvSpPr txBox="1"/>
          <p:nvPr/>
        </p:nvSpPr>
        <p:spPr>
          <a:xfrm>
            <a:off x="822960" y="2240280"/>
            <a:ext cx="3200400" cy="274320"/>
          </a:xfrm>
          <a:prstGeom prst="rect">
            <a:avLst/>
          </a:prstGeom>
          <a:noFill/>
          <a:ln/>
        </p:spPr>
        <p:txBody>
          <a:bodyPr wrap="square" rtlCol="0" anchor="ctr"/>
          <a:lstStyle/>
          <a:p>
            <a:pPr marL="0" indent="0">
              <a:buNone/>
            </a:pPr>
            <a:r>
              <a:rPr lang="en-US" sz="1100" dirty="0">
                <a:solidFill>
                  <a:srgbClr val="1F1F1F"/>
                </a:solidFill>
              </a:rPr>
              <a:t>• Healthcare planners</a:t>
            </a:r>
            <a:endParaRPr lang="en-US" sz="1100" dirty="0"/>
          </a:p>
        </p:txBody>
      </p:sp>
      <p:sp>
        <p:nvSpPr>
          <p:cNvPr id="9" name="Text 7"/>
          <p:cNvSpPr txBox="1"/>
          <p:nvPr/>
        </p:nvSpPr>
        <p:spPr>
          <a:xfrm>
            <a:off x="822960" y="2560320"/>
            <a:ext cx="3200400" cy="274320"/>
          </a:xfrm>
          <a:prstGeom prst="rect">
            <a:avLst/>
          </a:prstGeom>
          <a:noFill/>
          <a:ln/>
        </p:spPr>
        <p:txBody>
          <a:bodyPr wrap="square" rtlCol="0" anchor="ctr"/>
          <a:lstStyle/>
          <a:p>
            <a:pPr marL="0" indent="0">
              <a:buNone/>
            </a:pPr>
            <a:r>
              <a:rPr lang="en-US" sz="1100" dirty="0">
                <a:solidFill>
                  <a:srgbClr val="1F1F1F"/>
                </a:solidFill>
              </a:rPr>
              <a:t>• Researchers</a:t>
            </a:r>
            <a:endParaRPr lang="en-US" sz="1100" dirty="0"/>
          </a:p>
        </p:txBody>
      </p:sp>
      <p:sp>
        <p:nvSpPr>
          <p:cNvPr id="10" name="Text 8"/>
          <p:cNvSpPr txBox="1"/>
          <p:nvPr/>
        </p:nvSpPr>
        <p:spPr>
          <a:xfrm>
            <a:off x="822960" y="2880360"/>
            <a:ext cx="3200400" cy="274320"/>
          </a:xfrm>
          <a:prstGeom prst="rect">
            <a:avLst/>
          </a:prstGeom>
          <a:noFill/>
          <a:ln/>
        </p:spPr>
        <p:txBody>
          <a:bodyPr wrap="square" rtlCol="0" anchor="ctr"/>
          <a:lstStyle/>
          <a:p>
            <a:pPr marL="0" indent="0">
              <a:buNone/>
            </a:pPr>
            <a:r>
              <a:rPr lang="en-US" sz="1100" dirty="0">
                <a:solidFill>
                  <a:srgbClr val="1F1F1F"/>
                </a:solidFill>
              </a:rPr>
              <a:t>• Students &amp; educators</a:t>
            </a:r>
            <a:endParaRPr lang="en-US" sz="1100" dirty="0"/>
          </a:p>
        </p:txBody>
      </p:sp>
      <p:sp>
        <p:nvSpPr>
          <p:cNvPr id="11" name="Shape 9"/>
          <p:cNvSpPr/>
          <p:nvPr/>
        </p:nvSpPr>
        <p:spPr>
          <a:xfrm>
            <a:off x="4754880" y="1097280"/>
            <a:ext cx="3931920" cy="3474720"/>
          </a:xfrm>
          <a:prstGeom prst="roundRect">
            <a:avLst/>
          </a:prstGeom>
          <a:solidFill>
            <a:srgbClr val="4CAF50">
              <a:alpha val="85000"/>
            </a:srgbClr>
          </a:solidFill>
          <a:ln w="12700">
            <a:solidFill>
              <a:srgbClr val="4CAF50"/>
            </a:solidFill>
            <a:prstDash val="solid"/>
          </a:ln>
        </p:spPr>
      </p:sp>
      <p:sp>
        <p:nvSpPr>
          <p:cNvPr id="12" name="Text 10"/>
          <p:cNvSpPr txBox="1"/>
          <p:nvPr/>
        </p:nvSpPr>
        <p:spPr>
          <a:xfrm>
            <a:off x="4937760" y="1234440"/>
            <a:ext cx="3566160" cy="274320"/>
          </a:xfrm>
          <a:prstGeom prst="rect">
            <a:avLst/>
          </a:prstGeom>
          <a:noFill/>
          <a:ln/>
        </p:spPr>
        <p:txBody>
          <a:bodyPr wrap="square" rtlCol="0" anchor="ctr"/>
          <a:lstStyle/>
          <a:p>
            <a:pPr marL="0" indent="0">
              <a:buNone/>
            </a:pPr>
            <a:r>
              <a:rPr lang="en-US" sz="1400" b="1" dirty="0">
                <a:solidFill>
                  <a:srgbClr val="4CAF50"/>
                </a:solidFill>
              </a:rPr>
              <a:t>Problem Impact</a:t>
            </a:r>
            <a:endParaRPr lang="en-US" sz="1400" dirty="0"/>
          </a:p>
        </p:txBody>
      </p:sp>
      <p:sp>
        <p:nvSpPr>
          <p:cNvPr id="13" name="Text 11"/>
          <p:cNvSpPr txBox="1"/>
          <p:nvPr/>
        </p:nvSpPr>
        <p:spPr>
          <a:xfrm>
            <a:off x="4937760" y="1600200"/>
            <a:ext cx="3566160" cy="274320"/>
          </a:xfrm>
          <a:prstGeom prst="rect">
            <a:avLst/>
          </a:prstGeom>
          <a:noFill/>
          <a:ln/>
        </p:spPr>
        <p:txBody>
          <a:bodyPr wrap="square" rtlCol="0" anchor="ctr"/>
          <a:lstStyle/>
          <a:p>
            <a:pPr marL="0" indent="0">
              <a:buNone/>
            </a:pPr>
            <a:r>
              <a:rPr lang="en-US" sz="1100" dirty="0">
                <a:solidFill>
                  <a:srgbClr val="1F1F1F"/>
                </a:solidFill>
              </a:rPr>
              <a:t>• Difficulty monitoring trends</a:t>
            </a:r>
            <a:endParaRPr lang="en-US" sz="1100" dirty="0"/>
          </a:p>
        </p:txBody>
      </p:sp>
      <p:sp>
        <p:nvSpPr>
          <p:cNvPr id="14" name="Text 12"/>
          <p:cNvSpPr txBox="1"/>
          <p:nvPr/>
        </p:nvSpPr>
        <p:spPr>
          <a:xfrm>
            <a:off x="4937760" y="1920240"/>
            <a:ext cx="3566160" cy="274320"/>
          </a:xfrm>
          <a:prstGeom prst="rect">
            <a:avLst/>
          </a:prstGeom>
          <a:noFill/>
          <a:ln/>
        </p:spPr>
        <p:txBody>
          <a:bodyPr wrap="square" rtlCol="0" anchor="ctr"/>
          <a:lstStyle/>
          <a:p>
            <a:pPr marL="0" indent="0">
              <a:buNone/>
            </a:pPr>
            <a:r>
              <a:rPr lang="en-US" sz="1100" dirty="0">
                <a:solidFill>
                  <a:srgbClr val="1F1F1F"/>
                </a:solidFill>
              </a:rPr>
              <a:t>• Challenges identifying needs</a:t>
            </a:r>
            <a:endParaRPr lang="en-US" sz="1100" dirty="0"/>
          </a:p>
        </p:txBody>
      </p:sp>
      <p:sp>
        <p:nvSpPr>
          <p:cNvPr id="15" name="Text 13"/>
          <p:cNvSpPr txBox="1"/>
          <p:nvPr/>
        </p:nvSpPr>
        <p:spPr>
          <a:xfrm>
            <a:off x="4937760" y="2240280"/>
            <a:ext cx="3566160" cy="274320"/>
          </a:xfrm>
          <a:prstGeom prst="rect">
            <a:avLst/>
          </a:prstGeom>
          <a:noFill/>
          <a:ln/>
        </p:spPr>
        <p:txBody>
          <a:bodyPr wrap="square" rtlCol="0" anchor="ctr"/>
          <a:lstStyle/>
          <a:p>
            <a:pPr marL="0" indent="0">
              <a:buNone/>
            </a:pPr>
            <a:r>
              <a:rPr lang="en-US" sz="1100" dirty="0">
                <a:solidFill>
                  <a:srgbClr val="1F1F1F"/>
                </a:solidFill>
              </a:rPr>
              <a:t>• Manual comparison issues</a:t>
            </a:r>
            <a:endParaRPr lang="en-US" sz="1100" dirty="0"/>
          </a:p>
        </p:txBody>
      </p:sp>
      <p:sp>
        <p:nvSpPr>
          <p:cNvPr id="16" name="Text 14"/>
          <p:cNvSpPr txBox="1"/>
          <p:nvPr/>
        </p:nvSpPr>
        <p:spPr>
          <a:xfrm>
            <a:off x="4937760" y="2560320"/>
            <a:ext cx="3566160" cy="274320"/>
          </a:xfrm>
          <a:prstGeom prst="rect">
            <a:avLst/>
          </a:prstGeom>
          <a:noFill/>
          <a:ln/>
        </p:spPr>
        <p:txBody>
          <a:bodyPr wrap="square" rtlCol="0" anchor="ctr"/>
          <a:lstStyle/>
          <a:p>
            <a:pPr marL="0" indent="0">
              <a:buNone/>
            </a:pPr>
            <a:r>
              <a:rPr lang="en-US" sz="1100" dirty="0">
                <a:solidFill>
                  <a:srgbClr val="1F1F1F"/>
                </a:solidFill>
              </a:rPr>
              <a:t>• Slow progress assessment</a:t>
            </a:r>
            <a:endParaRPr lang="en-US" sz="1100" dirty="0"/>
          </a:p>
        </p:txBody>
      </p:sp>
      <p:sp>
        <p:nvSpPr>
          <p:cNvPr id="17" name="Text 15"/>
          <p:cNvSpPr txBox="1"/>
          <p:nvPr/>
        </p:nvSpPr>
        <p:spPr>
          <a:xfrm>
            <a:off x="4937760" y="2880360"/>
            <a:ext cx="3566160" cy="274320"/>
          </a:xfrm>
          <a:prstGeom prst="rect">
            <a:avLst/>
          </a:prstGeom>
          <a:noFill/>
          <a:ln/>
        </p:spPr>
        <p:txBody>
          <a:bodyPr wrap="square" rtlCol="0" anchor="ctr"/>
          <a:lstStyle/>
          <a:p>
            <a:pPr marL="0" indent="0">
              <a:buNone/>
            </a:pPr>
            <a:r>
              <a:rPr lang="en-US" sz="1100" dirty="0">
                <a:solidFill>
                  <a:srgbClr val="1F1F1F"/>
                </a:solidFill>
              </a:rPr>
              <a:t>• Limited insights available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Proposed AI Solution</a:t>
            </a:r>
            <a:endParaRPr lang="en-US" sz="4000" dirty="0"/>
          </a:p>
        </p:txBody>
      </p:sp>
      <p:sp>
        <p:nvSpPr>
          <p:cNvPr id="4" name="Shape 2"/>
          <p:cNvSpPr/>
          <p:nvPr/>
        </p:nvSpPr>
        <p:spPr>
          <a:xfrm>
            <a:off x="731520" y="1280160"/>
            <a:ext cx="1645920" cy="731520"/>
          </a:xfrm>
          <a:prstGeom prst="roundRect">
            <a:avLst/>
          </a:prstGeom>
          <a:solidFill>
            <a:srgbClr val="4A90E2"/>
          </a:solidFill>
          <a:ln/>
        </p:spPr>
      </p:sp>
      <p:sp>
        <p:nvSpPr>
          <p:cNvPr id="5" name="Text 3"/>
          <p:cNvSpPr txBox="1"/>
          <p:nvPr/>
        </p:nvSpPr>
        <p:spPr>
          <a:xfrm>
            <a:off x="731520" y="1417320"/>
            <a:ext cx="1645920" cy="457200"/>
          </a:xfrm>
          <a:prstGeom prst="rect">
            <a:avLst/>
          </a:prstGeom>
          <a:noFill/>
          <a:ln/>
        </p:spPr>
        <p:txBody>
          <a:bodyPr wrap="square" rtlCol="0" anchor="ctr"/>
          <a:lstStyle/>
          <a:p>
            <a:pPr marL="0" indent="0" algn="ctr">
              <a:buNone/>
            </a:pPr>
            <a:r>
              <a:rPr lang="en-US" sz="1100" b="1" dirty="0">
                <a:solidFill>
                  <a:srgbClr val="FFFFFF"/>
                </a:solidFill>
              </a:rPr>
              <a:t>Maternal Health</a:t>
            </a:r>
            <a:endParaRPr lang="en-US" sz="1100" dirty="0"/>
          </a:p>
          <a:p>
            <a:pPr marL="0" indent="0" algn="ctr">
              <a:buNone/>
            </a:pPr>
            <a:r>
              <a:rPr lang="en-US" sz="1100" b="1" dirty="0">
                <a:solidFill>
                  <a:srgbClr val="FFFFFF"/>
                </a:solidFill>
              </a:rPr>
              <a:t>Dataset</a:t>
            </a:r>
            <a:endParaRPr lang="en-US" sz="1100" dirty="0"/>
          </a:p>
        </p:txBody>
      </p:sp>
      <p:sp>
        <p:nvSpPr>
          <p:cNvPr id="6" name="Shape 4"/>
          <p:cNvSpPr/>
          <p:nvPr/>
        </p:nvSpPr>
        <p:spPr>
          <a:xfrm rot="5400000">
            <a:off x="2468880" y="1554480"/>
            <a:ext cx="365760" cy="182880"/>
          </a:xfrm>
          <a:prstGeom prst="triangle">
            <a:avLst/>
          </a:prstGeom>
          <a:solidFill>
            <a:srgbClr val="1F4788"/>
          </a:solidFill>
          <a:ln/>
        </p:spPr>
      </p:sp>
      <p:sp>
        <p:nvSpPr>
          <p:cNvPr id="7" name="Shape 5"/>
          <p:cNvSpPr/>
          <p:nvPr/>
        </p:nvSpPr>
        <p:spPr>
          <a:xfrm>
            <a:off x="2651760" y="1280160"/>
            <a:ext cx="1645920" cy="731520"/>
          </a:xfrm>
          <a:prstGeom prst="roundRect">
            <a:avLst/>
          </a:prstGeom>
          <a:solidFill>
            <a:srgbClr val="00BCD4"/>
          </a:solidFill>
          <a:ln/>
        </p:spPr>
      </p:sp>
      <p:sp>
        <p:nvSpPr>
          <p:cNvPr id="8" name="Text 6"/>
          <p:cNvSpPr txBox="1"/>
          <p:nvPr/>
        </p:nvSpPr>
        <p:spPr>
          <a:xfrm>
            <a:off x="2651760" y="1417320"/>
            <a:ext cx="1645920" cy="457200"/>
          </a:xfrm>
          <a:prstGeom prst="rect">
            <a:avLst/>
          </a:prstGeom>
          <a:noFill/>
          <a:ln/>
        </p:spPr>
        <p:txBody>
          <a:bodyPr wrap="square" rtlCol="0" anchor="ctr"/>
          <a:lstStyle/>
          <a:p>
            <a:pPr marL="0" indent="0" algn="ctr">
              <a:buNone/>
            </a:pPr>
            <a:r>
              <a:rPr lang="en-US" sz="1100" b="1" dirty="0">
                <a:solidFill>
                  <a:srgbClr val="FFFFFF"/>
                </a:solidFill>
              </a:rPr>
              <a:t>Data Cleaning &amp;</a:t>
            </a:r>
            <a:endParaRPr lang="en-US" sz="1100" dirty="0"/>
          </a:p>
          <a:p>
            <a:pPr marL="0" indent="0" algn="ctr">
              <a:buNone/>
            </a:pPr>
            <a:r>
              <a:rPr lang="en-US" sz="1100" b="1" dirty="0">
                <a:solidFill>
                  <a:srgbClr val="FFFFFF"/>
                </a:solidFill>
              </a:rPr>
              <a:t>Processing</a:t>
            </a:r>
            <a:endParaRPr lang="en-US" sz="1100" dirty="0"/>
          </a:p>
        </p:txBody>
      </p:sp>
      <p:sp>
        <p:nvSpPr>
          <p:cNvPr id="9" name="Shape 7"/>
          <p:cNvSpPr/>
          <p:nvPr/>
        </p:nvSpPr>
        <p:spPr>
          <a:xfrm rot="5400000">
            <a:off x="4389120" y="1554480"/>
            <a:ext cx="365760" cy="182880"/>
          </a:xfrm>
          <a:prstGeom prst="triangle">
            <a:avLst/>
          </a:prstGeom>
          <a:solidFill>
            <a:srgbClr val="1F4788"/>
          </a:solidFill>
          <a:ln/>
        </p:spPr>
      </p:sp>
      <p:sp>
        <p:nvSpPr>
          <p:cNvPr id="10" name="Shape 8"/>
          <p:cNvSpPr/>
          <p:nvPr/>
        </p:nvSpPr>
        <p:spPr>
          <a:xfrm>
            <a:off x="4572000" y="1280160"/>
            <a:ext cx="1645920" cy="731520"/>
          </a:xfrm>
          <a:prstGeom prst="roundRect">
            <a:avLst/>
          </a:prstGeom>
          <a:solidFill>
            <a:srgbClr val="1F4788"/>
          </a:solidFill>
          <a:ln/>
        </p:spPr>
      </p:sp>
      <p:sp>
        <p:nvSpPr>
          <p:cNvPr id="11" name="Text 9"/>
          <p:cNvSpPr txBox="1"/>
          <p:nvPr/>
        </p:nvSpPr>
        <p:spPr>
          <a:xfrm>
            <a:off x="4572000" y="1417320"/>
            <a:ext cx="1645920" cy="457200"/>
          </a:xfrm>
          <a:prstGeom prst="rect">
            <a:avLst/>
          </a:prstGeom>
          <a:noFill/>
          <a:ln/>
        </p:spPr>
        <p:txBody>
          <a:bodyPr wrap="square" rtlCol="0" anchor="ctr"/>
          <a:lstStyle/>
          <a:p>
            <a:pPr marL="0" indent="0" algn="ctr">
              <a:buNone/>
            </a:pPr>
            <a:r>
              <a:rPr lang="en-US" sz="1100" b="1" dirty="0">
                <a:solidFill>
                  <a:srgbClr val="FFFFFF"/>
                </a:solidFill>
              </a:rPr>
              <a:t>Analysis &amp;</a:t>
            </a:r>
            <a:endParaRPr lang="en-US" sz="1100" dirty="0"/>
          </a:p>
          <a:p>
            <a:pPr marL="0" indent="0" algn="ctr">
              <a:buNone/>
            </a:pPr>
            <a:r>
              <a:rPr lang="en-US" sz="1100" b="1" dirty="0">
                <a:solidFill>
                  <a:srgbClr val="FFFFFF"/>
                </a:solidFill>
              </a:rPr>
              <a:t>ML Model</a:t>
            </a:r>
            <a:endParaRPr lang="en-US" sz="1100" dirty="0"/>
          </a:p>
        </p:txBody>
      </p:sp>
      <p:sp>
        <p:nvSpPr>
          <p:cNvPr id="12" name="Shape 10"/>
          <p:cNvSpPr/>
          <p:nvPr/>
        </p:nvSpPr>
        <p:spPr>
          <a:xfrm rot="5400000">
            <a:off x="6309360" y="1554480"/>
            <a:ext cx="365760" cy="182880"/>
          </a:xfrm>
          <a:prstGeom prst="triangle">
            <a:avLst/>
          </a:prstGeom>
          <a:solidFill>
            <a:srgbClr val="1F4788"/>
          </a:solidFill>
          <a:ln/>
        </p:spPr>
      </p:sp>
      <p:sp>
        <p:nvSpPr>
          <p:cNvPr id="13" name="Shape 11"/>
          <p:cNvSpPr/>
          <p:nvPr/>
        </p:nvSpPr>
        <p:spPr>
          <a:xfrm>
            <a:off x="6492240" y="1280160"/>
            <a:ext cx="1645920" cy="731520"/>
          </a:xfrm>
          <a:prstGeom prst="roundRect">
            <a:avLst/>
          </a:prstGeom>
          <a:solidFill>
            <a:srgbClr val="4CAF50"/>
          </a:solidFill>
          <a:ln/>
        </p:spPr>
      </p:sp>
      <p:sp>
        <p:nvSpPr>
          <p:cNvPr id="14" name="Text 12"/>
          <p:cNvSpPr txBox="1"/>
          <p:nvPr/>
        </p:nvSpPr>
        <p:spPr>
          <a:xfrm>
            <a:off x="6492240" y="1417320"/>
            <a:ext cx="1645920" cy="457200"/>
          </a:xfrm>
          <a:prstGeom prst="rect">
            <a:avLst/>
          </a:prstGeom>
          <a:noFill/>
          <a:ln/>
        </p:spPr>
        <p:txBody>
          <a:bodyPr wrap="square" rtlCol="0" anchor="ctr"/>
          <a:lstStyle/>
          <a:p>
            <a:pPr marL="0" indent="0" algn="ctr">
              <a:buNone/>
            </a:pPr>
            <a:r>
              <a:rPr lang="en-US" sz="1100" b="1" dirty="0">
                <a:solidFill>
                  <a:srgbClr val="FFFFFF"/>
                </a:solidFill>
              </a:rPr>
              <a:t>Interactive</a:t>
            </a:r>
            <a:endParaRPr lang="en-US" sz="1100" dirty="0"/>
          </a:p>
          <a:p>
            <a:pPr marL="0" indent="0" algn="ctr">
              <a:buNone/>
            </a:pPr>
            <a:r>
              <a:rPr lang="en-US" sz="1100" b="1" dirty="0">
                <a:solidFill>
                  <a:srgbClr val="FFFFFF"/>
                </a:solidFill>
              </a:rPr>
              <a:t>Dashboard</a:t>
            </a:r>
            <a:endParaRPr lang="en-US" sz="1100" dirty="0"/>
          </a:p>
        </p:txBody>
      </p:sp>
      <p:sp>
        <p:nvSpPr>
          <p:cNvPr id="15" name="Text 13"/>
          <p:cNvSpPr txBox="1"/>
          <p:nvPr/>
        </p:nvSpPr>
        <p:spPr>
          <a:xfrm>
            <a:off x="457200" y="2286000"/>
            <a:ext cx="8229600" cy="274320"/>
          </a:xfrm>
          <a:prstGeom prst="rect">
            <a:avLst/>
          </a:prstGeom>
          <a:noFill/>
          <a:ln/>
        </p:spPr>
        <p:txBody>
          <a:bodyPr wrap="square" rtlCol="0" anchor="ctr"/>
          <a:lstStyle/>
          <a:p>
            <a:pPr marL="0" indent="0">
              <a:buNone/>
            </a:pPr>
            <a:r>
              <a:rPr lang="en-US" sz="1300" b="1" dirty="0">
                <a:solidFill>
                  <a:srgbClr val="1F4788"/>
                </a:solidFill>
              </a:rPr>
              <a:t>System Capabilities:</a:t>
            </a:r>
            <a:endParaRPr lang="en-US" sz="1300" dirty="0"/>
          </a:p>
        </p:txBody>
      </p:sp>
      <p:sp>
        <p:nvSpPr>
          <p:cNvPr id="16" name="Text 14"/>
          <p:cNvSpPr txBox="1"/>
          <p:nvPr/>
        </p:nvSpPr>
        <p:spPr>
          <a:xfrm>
            <a:off x="640080" y="2651760"/>
            <a:ext cx="7863840" cy="1097280"/>
          </a:xfrm>
          <a:prstGeom prst="rect">
            <a:avLst/>
          </a:prstGeom>
          <a:noFill/>
          <a:ln/>
        </p:spPr>
        <p:txBody>
          <a:bodyPr wrap="square" rtlCol="0" anchor="ctr"/>
          <a:lstStyle/>
          <a:p>
            <a:pPr marL="0" indent="0">
              <a:buNone/>
            </a:pPr>
            <a:r>
              <a:rPr lang="en-US" sz="1100" dirty="0">
                <a:solidFill>
                  <a:srgbClr val="1F1F1F"/>
                </a:solidFill>
              </a:rPr>
              <a:t>• Analyzes historical MMR data </a:t>
            </a:r>
          </a:p>
          <a:p>
            <a:pPr marL="0" indent="0">
              <a:buNone/>
            </a:pPr>
            <a:r>
              <a:rPr lang="en-US" sz="1100" dirty="0">
                <a:solidFill>
                  <a:srgbClr val="1F1F1F"/>
                </a:solidFill>
              </a:rPr>
              <a:t>• Compares areas and trends </a:t>
            </a:r>
          </a:p>
          <a:p>
            <a:pPr marL="0" indent="0">
              <a:buNone/>
            </a:pPr>
            <a:r>
              <a:rPr lang="en-US" sz="1100" dirty="0">
                <a:solidFill>
                  <a:srgbClr val="1F1F1F"/>
                </a:solidFill>
              </a:rPr>
              <a:t>• Tracks SDG 3.1 progress </a:t>
            </a:r>
          </a:p>
          <a:p>
            <a:pPr marL="0" indent="0">
              <a:buNone/>
            </a:pPr>
            <a:r>
              <a:rPr lang="en-US" sz="1100" dirty="0">
                <a:solidFill>
                  <a:srgbClr val="1F1F1F"/>
                </a:solidFill>
              </a:rPr>
              <a:t>• Predicts future MMR  </a:t>
            </a:r>
          </a:p>
          <a:p>
            <a:pPr marL="0" indent="0">
              <a:buNone/>
            </a:pPr>
            <a:r>
              <a:rPr lang="en-US" sz="1100" dirty="0">
                <a:solidFill>
                  <a:srgbClr val="1F1F1F"/>
                </a:solidFill>
              </a:rPr>
              <a:t>• Real-time visualization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Dataset &amp; Data Processing</a:t>
            </a:r>
            <a:endParaRPr lang="en-US" sz="4000" dirty="0"/>
          </a:p>
        </p:txBody>
      </p:sp>
      <p:sp>
        <p:nvSpPr>
          <p:cNvPr id="4" name="Text 2"/>
          <p:cNvSpPr txBox="1"/>
          <p:nvPr/>
        </p:nvSpPr>
        <p:spPr>
          <a:xfrm>
            <a:off x="457200" y="1097280"/>
            <a:ext cx="8229600" cy="274320"/>
          </a:xfrm>
          <a:prstGeom prst="rect">
            <a:avLst/>
          </a:prstGeom>
          <a:noFill/>
          <a:ln/>
        </p:spPr>
        <p:txBody>
          <a:bodyPr wrap="square" rtlCol="0" anchor="ctr"/>
          <a:lstStyle/>
          <a:p>
            <a:pPr marL="0" indent="0">
              <a:buNone/>
            </a:pPr>
            <a:r>
              <a:rPr lang="en-US" sz="1300" b="1" dirty="0">
                <a:solidFill>
                  <a:srgbClr val="1F4788"/>
                </a:solidFill>
              </a:rPr>
              <a:t>Data Source:</a:t>
            </a:r>
            <a:endParaRPr lang="en-US" sz="1300" dirty="0"/>
          </a:p>
        </p:txBody>
      </p:sp>
      <p:sp>
        <p:nvSpPr>
          <p:cNvPr id="5" name="Shape 3"/>
          <p:cNvSpPr/>
          <p:nvPr/>
        </p:nvSpPr>
        <p:spPr>
          <a:xfrm>
            <a:off x="457200" y="1463040"/>
            <a:ext cx="8229600" cy="640080"/>
          </a:xfrm>
          <a:prstGeom prst="roundRect">
            <a:avLst/>
          </a:prstGeom>
          <a:solidFill>
            <a:srgbClr val="F5F5F5"/>
          </a:solidFill>
          <a:ln w="12700">
            <a:solidFill>
              <a:srgbClr val="E0E0E0"/>
            </a:solidFill>
            <a:prstDash val="solid"/>
          </a:ln>
        </p:spPr>
      </p:sp>
      <p:sp>
        <p:nvSpPr>
          <p:cNvPr id="6" name="Text 4"/>
          <p:cNvSpPr txBox="1"/>
          <p:nvPr/>
        </p:nvSpPr>
        <p:spPr>
          <a:xfrm>
            <a:off x="640080" y="1554480"/>
            <a:ext cx="7863840" cy="457200"/>
          </a:xfrm>
          <a:prstGeom prst="rect">
            <a:avLst/>
          </a:prstGeom>
          <a:noFill/>
          <a:ln/>
        </p:spPr>
        <p:txBody>
          <a:bodyPr wrap="square" rtlCol="0" anchor="ctr"/>
          <a:lstStyle/>
          <a:p>
            <a:pPr marL="0" indent="0">
              <a:buNone/>
            </a:pPr>
            <a:r>
              <a:rPr lang="en-US" sz="1100" dirty="0">
                <a:solidFill>
                  <a:srgbClr val="1F1F1F"/>
                </a:solidFill>
              </a:rPr>
              <a:t>Government of India's Open Government Data Platform (SDG National Indicator Framework)</a:t>
            </a:r>
            <a:endParaRPr lang="en-US" sz="1100" dirty="0"/>
          </a:p>
        </p:txBody>
      </p:sp>
      <p:sp>
        <p:nvSpPr>
          <p:cNvPr id="7" name="Text 5"/>
          <p:cNvSpPr txBox="1"/>
          <p:nvPr/>
        </p:nvSpPr>
        <p:spPr>
          <a:xfrm>
            <a:off x="457200" y="2240280"/>
            <a:ext cx="4114800" cy="274320"/>
          </a:xfrm>
          <a:prstGeom prst="rect">
            <a:avLst/>
          </a:prstGeom>
          <a:noFill/>
          <a:ln/>
        </p:spPr>
        <p:txBody>
          <a:bodyPr wrap="square" rtlCol="0" anchor="ctr"/>
          <a:lstStyle/>
          <a:p>
            <a:pPr marL="0" indent="0">
              <a:buNone/>
            </a:pPr>
            <a:r>
              <a:rPr lang="en-US" sz="1200" b="1" dirty="0">
                <a:solidFill>
                  <a:srgbClr val="1F4788"/>
                </a:solidFill>
              </a:rPr>
              <a:t>Key Indicators:</a:t>
            </a:r>
            <a:endParaRPr lang="en-US" sz="1200" dirty="0"/>
          </a:p>
        </p:txBody>
      </p:sp>
      <p:sp>
        <p:nvSpPr>
          <p:cNvPr id="8" name="Text 6"/>
          <p:cNvSpPr txBox="1"/>
          <p:nvPr/>
        </p:nvSpPr>
        <p:spPr>
          <a:xfrm>
            <a:off x="640080" y="2606040"/>
            <a:ext cx="3749040" cy="228600"/>
          </a:xfrm>
          <a:prstGeom prst="rect">
            <a:avLst/>
          </a:prstGeom>
          <a:noFill/>
          <a:ln/>
        </p:spPr>
        <p:txBody>
          <a:bodyPr wrap="square" rtlCol="0" anchor="ctr"/>
          <a:lstStyle/>
          <a:p>
            <a:pPr marL="0" indent="0">
              <a:buNone/>
            </a:pPr>
            <a:r>
              <a:rPr lang="en-US" sz="1000" dirty="0">
                <a:solidFill>
                  <a:srgbClr val="1F1F1F"/>
                </a:solidFill>
              </a:rPr>
              <a:t>• Maternal Mortality Ratio (MMR)</a:t>
            </a:r>
            <a:endParaRPr lang="en-US" sz="1000" dirty="0"/>
          </a:p>
        </p:txBody>
      </p:sp>
      <p:sp>
        <p:nvSpPr>
          <p:cNvPr id="9" name="Text 7"/>
          <p:cNvSpPr txBox="1"/>
          <p:nvPr/>
        </p:nvSpPr>
        <p:spPr>
          <a:xfrm>
            <a:off x="640080" y="2880360"/>
            <a:ext cx="3749040" cy="228600"/>
          </a:xfrm>
          <a:prstGeom prst="rect">
            <a:avLst/>
          </a:prstGeom>
          <a:noFill/>
          <a:ln/>
        </p:spPr>
        <p:txBody>
          <a:bodyPr wrap="square" rtlCol="0" anchor="ctr"/>
          <a:lstStyle/>
          <a:p>
            <a:pPr marL="0" indent="0">
              <a:buNone/>
            </a:pPr>
            <a:r>
              <a:rPr lang="en-US" sz="1000" dirty="0">
                <a:solidFill>
                  <a:srgbClr val="1F1F1F"/>
                </a:solidFill>
              </a:rPr>
              <a:t>• Skilled birth attendance</a:t>
            </a:r>
            <a:endParaRPr lang="en-US" sz="1000" dirty="0"/>
          </a:p>
        </p:txBody>
      </p:sp>
      <p:sp>
        <p:nvSpPr>
          <p:cNvPr id="10" name="Text 8"/>
          <p:cNvSpPr txBox="1"/>
          <p:nvPr/>
        </p:nvSpPr>
        <p:spPr>
          <a:xfrm>
            <a:off x="640080" y="3154680"/>
            <a:ext cx="3749040" cy="228600"/>
          </a:xfrm>
          <a:prstGeom prst="rect">
            <a:avLst/>
          </a:prstGeom>
          <a:noFill/>
          <a:ln/>
        </p:spPr>
        <p:txBody>
          <a:bodyPr wrap="square" rtlCol="0" anchor="ctr"/>
          <a:lstStyle/>
          <a:p>
            <a:pPr marL="0" indent="0">
              <a:buNone/>
            </a:pPr>
            <a:r>
              <a:rPr lang="en-US" sz="1000" dirty="0">
                <a:solidFill>
                  <a:srgbClr val="1F1F1F"/>
                </a:solidFill>
              </a:rPr>
              <a:t>• Antenatal care coverage</a:t>
            </a:r>
            <a:endParaRPr lang="en-US" sz="1000" dirty="0"/>
          </a:p>
        </p:txBody>
      </p:sp>
      <p:sp>
        <p:nvSpPr>
          <p:cNvPr id="11" name="Text 9"/>
          <p:cNvSpPr txBox="1"/>
          <p:nvPr/>
        </p:nvSpPr>
        <p:spPr>
          <a:xfrm>
            <a:off x="4754880" y="2240280"/>
            <a:ext cx="3931920" cy="274320"/>
          </a:xfrm>
          <a:prstGeom prst="rect">
            <a:avLst/>
          </a:prstGeom>
          <a:noFill/>
          <a:ln/>
        </p:spPr>
        <p:txBody>
          <a:bodyPr wrap="square" rtlCol="0" anchor="ctr"/>
          <a:lstStyle/>
          <a:p>
            <a:pPr marL="0" indent="0">
              <a:buNone/>
            </a:pPr>
            <a:r>
              <a:rPr lang="en-US" sz="1200" b="1" dirty="0">
                <a:solidFill>
                  <a:srgbClr val="1F4788"/>
                </a:solidFill>
              </a:rPr>
              <a:t>Processing Steps:</a:t>
            </a:r>
            <a:endParaRPr lang="en-US" sz="1200" dirty="0"/>
          </a:p>
        </p:txBody>
      </p:sp>
      <p:sp>
        <p:nvSpPr>
          <p:cNvPr id="12" name="Text 10"/>
          <p:cNvSpPr txBox="1"/>
          <p:nvPr/>
        </p:nvSpPr>
        <p:spPr>
          <a:xfrm>
            <a:off x="4937760" y="2606040"/>
            <a:ext cx="3749040" cy="228600"/>
          </a:xfrm>
          <a:prstGeom prst="rect">
            <a:avLst/>
          </a:prstGeom>
          <a:noFill/>
          <a:ln/>
        </p:spPr>
        <p:txBody>
          <a:bodyPr wrap="square" rtlCol="0" anchor="ctr"/>
          <a:lstStyle/>
          <a:p>
            <a:pPr marL="0" indent="0">
              <a:buNone/>
            </a:pPr>
            <a:r>
              <a:rPr lang="en-US" sz="1000" dirty="0">
                <a:solidFill>
                  <a:srgbClr val="1F1F1F"/>
                </a:solidFill>
              </a:rPr>
              <a:t>• Clean missing/invalid values</a:t>
            </a:r>
            <a:endParaRPr lang="en-US" sz="1000" dirty="0"/>
          </a:p>
        </p:txBody>
      </p:sp>
      <p:sp>
        <p:nvSpPr>
          <p:cNvPr id="13" name="Text 11"/>
          <p:cNvSpPr txBox="1"/>
          <p:nvPr/>
        </p:nvSpPr>
        <p:spPr>
          <a:xfrm>
            <a:off x="4937760" y="2880360"/>
            <a:ext cx="3749040" cy="228600"/>
          </a:xfrm>
          <a:prstGeom prst="rect">
            <a:avLst/>
          </a:prstGeom>
          <a:noFill/>
          <a:ln/>
        </p:spPr>
        <p:txBody>
          <a:bodyPr wrap="square" rtlCol="0" anchor="ctr"/>
          <a:lstStyle/>
          <a:p>
            <a:pPr marL="0" indent="0">
              <a:buNone/>
            </a:pPr>
            <a:r>
              <a:rPr lang="en-US" sz="1000" dirty="0">
                <a:solidFill>
                  <a:srgbClr val="1F1F1F"/>
                </a:solidFill>
              </a:rPr>
              <a:t>• Extract year from TimePeriod</a:t>
            </a:r>
            <a:endParaRPr lang="en-US" sz="1000" dirty="0"/>
          </a:p>
        </p:txBody>
      </p:sp>
      <p:sp>
        <p:nvSpPr>
          <p:cNvPr id="14" name="Text 12"/>
          <p:cNvSpPr txBox="1"/>
          <p:nvPr/>
        </p:nvSpPr>
        <p:spPr>
          <a:xfrm>
            <a:off x="4937760" y="3154680"/>
            <a:ext cx="3749040" cy="228600"/>
          </a:xfrm>
          <a:prstGeom prst="rect">
            <a:avLst/>
          </a:prstGeom>
          <a:noFill/>
          <a:ln/>
        </p:spPr>
        <p:txBody>
          <a:bodyPr wrap="square" rtlCol="0" anchor="ctr"/>
          <a:lstStyle/>
          <a:p>
            <a:pPr marL="0" indent="0">
              <a:buNone/>
            </a:pPr>
            <a:r>
              <a:rPr lang="en-US" sz="1000" dirty="0">
                <a:solidFill>
                  <a:srgbClr val="1F1F1F"/>
                </a:solidFill>
              </a:rPr>
              <a:t>• Convert MMR to numeric</a:t>
            </a:r>
            <a:endParaRPr lang="en-US" sz="1000" dirty="0"/>
          </a:p>
        </p:txBody>
      </p:sp>
      <p:sp>
        <p:nvSpPr>
          <p:cNvPr id="15" name="Text 13"/>
          <p:cNvSpPr txBox="1"/>
          <p:nvPr/>
        </p:nvSpPr>
        <p:spPr>
          <a:xfrm>
            <a:off x="4937760" y="3429000"/>
            <a:ext cx="3749040" cy="228600"/>
          </a:xfrm>
          <a:prstGeom prst="rect">
            <a:avLst/>
          </a:prstGeom>
          <a:noFill/>
          <a:ln/>
        </p:spPr>
        <p:txBody>
          <a:bodyPr wrap="square" rtlCol="0" anchor="ctr"/>
          <a:lstStyle/>
          <a:p>
            <a:pPr marL="0" indent="0">
              <a:buNone/>
            </a:pPr>
            <a:r>
              <a:rPr lang="en-US" sz="1000" dirty="0">
                <a:solidFill>
                  <a:srgbClr val="1F1F1F"/>
                </a:solidFill>
              </a:rPr>
              <a:t>• Filter MMR indicator (3.1.1)</a:t>
            </a:r>
            <a:endParaRPr lang="en-US" sz="1000" dirty="0"/>
          </a:p>
        </p:txBody>
      </p:sp>
      <p:sp>
        <p:nvSpPr>
          <p:cNvPr id="16" name="Text 14"/>
          <p:cNvSpPr txBox="1"/>
          <p:nvPr/>
        </p:nvSpPr>
        <p:spPr>
          <a:xfrm>
            <a:off x="4937760" y="3703320"/>
            <a:ext cx="3749040" cy="228600"/>
          </a:xfrm>
          <a:prstGeom prst="rect">
            <a:avLst/>
          </a:prstGeom>
          <a:noFill/>
          <a:ln/>
        </p:spPr>
        <p:txBody>
          <a:bodyPr wrap="square" rtlCol="0" anchor="ctr"/>
          <a:lstStyle/>
          <a:p>
            <a:pPr marL="0" indent="0">
              <a:buNone/>
            </a:pPr>
            <a:r>
              <a:rPr lang="en-US" sz="1000" dirty="0">
                <a:solidFill>
                  <a:srgbClr val="1F1F1F"/>
                </a:solidFill>
              </a:rPr>
              <a:t>• Group by area and year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AI/Machine Learning Method</a:t>
            </a:r>
            <a:endParaRPr lang="en-US" sz="4000" dirty="0"/>
          </a:p>
        </p:txBody>
      </p:sp>
      <p:sp>
        <p:nvSpPr>
          <p:cNvPr id="4" name="Text 2"/>
          <p:cNvSpPr txBox="1"/>
          <p:nvPr/>
        </p:nvSpPr>
        <p:spPr>
          <a:xfrm>
            <a:off x="457200" y="1097280"/>
            <a:ext cx="8229600" cy="320040"/>
          </a:xfrm>
          <a:prstGeom prst="rect">
            <a:avLst/>
          </a:prstGeom>
          <a:noFill/>
          <a:ln/>
        </p:spPr>
        <p:txBody>
          <a:bodyPr wrap="square" rtlCol="0" anchor="ctr"/>
          <a:lstStyle/>
          <a:p>
            <a:pPr marL="0" indent="0">
              <a:buNone/>
            </a:pPr>
            <a:r>
              <a:rPr lang="en-US" sz="1600" b="1" dirty="0">
                <a:solidFill>
                  <a:srgbClr val="1F4788"/>
                </a:solidFill>
              </a:rPr>
              <a:t>Model: Linear Regression</a:t>
            </a:r>
            <a:endParaRPr lang="en-US" sz="1600" dirty="0"/>
          </a:p>
        </p:txBody>
      </p:sp>
      <p:sp>
        <p:nvSpPr>
          <p:cNvPr id="5" name="Shape 3"/>
          <p:cNvSpPr/>
          <p:nvPr/>
        </p:nvSpPr>
        <p:spPr>
          <a:xfrm>
            <a:off x="1371600" y="1828800"/>
            <a:ext cx="2011680" cy="1097280"/>
          </a:xfrm>
          <a:prstGeom prst="roundRect">
            <a:avLst/>
          </a:prstGeom>
          <a:solidFill>
            <a:srgbClr val="4A90E2"/>
          </a:solidFill>
          <a:ln/>
        </p:spPr>
      </p:sp>
      <p:sp>
        <p:nvSpPr>
          <p:cNvPr id="6" name="Text 4"/>
          <p:cNvSpPr txBox="1"/>
          <p:nvPr/>
        </p:nvSpPr>
        <p:spPr>
          <a:xfrm>
            <a:off x="1371600" y="2057400"/>
            <a:ext cx="2011680" cy="640080"/>
          </a:xfrm>
          <a:prstGeom prst="rect">
            <a:avLst/>
          </a:prstGeom>
          <a:noFill/>
          <a:ln/>
        </p:spPr>
        <p:txBody>
          <a:bodyPr wrap="square" rtlCol="0" anchor="ctr"/>
          <a:lstStyle/>
          <a:p>
            <a:pPr marL="0" indent="0" algn="ctr">
              <a:buNone/>
            </a:pPr>
            <a:r>
              <a:rPr lang="en-US" sz="1100" b="1" dirty="0">
                <a:solidFill>
                  <a:srgbClr val="FFFFFF"/>
                </a:solidFill>
              </a:rPr>
              <a:t>Year +</a:t>
            </a:r>
            <a:endParaRPr lang="en-US" sz="1100" dirty="0"/>
          </a:p>
          <a:p>
            <a:pPr marL="0" indent="0" algn="ctr">
              <a:buNone/>
            </a:pPr>
            <a:r>
              <a:rPr lang="en-US" sz="1100" b="1" dirty="0">
                <a:solidFill>
                  <a:srgbClr val="FFFFFF"/>
                </a:solidFill>
              </a:rPr>
              <a:t>Historical MMR</a:t>
            </a:r>
            <a:endParaRPr lang="en-US" sz="1100" dirty="0"/>
          </a:p>
        </p:txBody>
      </p:sp>
      <p:sp>
        <p:nvSpPr>
          <p:cNvPr id="7" name="Shape 5"/>
          <p:cNvSpPr/>
          <p:nvPr/>
        </p:nvSpPr>
        <p:spPr>
          <a:xfrm rot="5400000">
            <a:off x="3474720" y="2286000"/>
            <a:ext cx="320040" cy="137160"/>
          </a:xfrm>
          <a:prstGeom prst="triangle">
            <a:avLst/>
          </a:prstGeom>
          <a:solidFill>
            <a:srgbClr val="1F4788"/>
          </a:solidFill>
          <a:ln/>
        </p:spPr>
      </p:sp>
      <p:sp>
        <p:nvSpPr>
          <p:cNvPr id="8" name="Shape 6"/>
          <p:cNvSpPr/>
          <p:nvPr/>
        </p:nvSpPr>
        <p:spPr>
          <a:xfrm>
            <a:off x="3931920" y="1828800"/>
            <a:ext cx="2011680" cy="1097280"/>
          </a:xfrm>
          <a:prstGeom prst="roundRect">
            <a:avLst/>
          </a:prstGeom>
          <a:solidFill>
            <a:srgbClr val="1F4788"/>
          </a:solidFill>
          <a:ln/>
        </p:spPr>
      </p:sp>
      <p:sp>
        <p:nvSpPr>
          <p:cNvPr id="9" name="Text 7"/>
          <p:cNvSpPr txBox="1"/>
          <p:nvPr/>
        </p:nvSpPr>
        <p:spPr>
          <a:xfrm>
            <a:off x="3931920" y="2057400"/>
            <a:ext cx="2011680" cy="640080"/>
          </a:xfrm>
          <a:prstGeom prst="rect">
            <a:avLst/>
          </a:prstGeom>
          <a:noFill/>
          <a:ln/>
        </p:spPr>
        <p:txBody>
          <a:bodyPr wrap="square" rtlCol="0" anchor="ctr"/>
          <a:lstStyle/>
          <a:p>
            <a:pPr marL="0" indent="0" algn="ctr">
              <a:buNone/>
            </a:pPr>
            <a:r>
              <a:rPr lang="en-US" sz="1100" b="1" dirty="0">
                <a:solidFill>
                  <a:srgbClr val="FFFFFF"/>
                </a:solidFill>
              </a:rPr>
              <a:t>Linear</a:t>
            </a:r>
            <a:endParaRPr lang="en-US" sz="1100" dirty="0"/>
          </a:p>
          <a:p>
            <a:pPr marL="0" indent="0" algn="ctr">
              <a:buNone/>
            </a:pPr>
            <a:r>
              <a:rPr lang="en-US" sz="1100" b="1" dirty="0">
                <a:solidFill>
                  <a:srgbClr val="FFFFFF"/>
                </a:solidFill>
              </a:rPr>
              <a:t>Regression</a:t>
            </a:r>
            <a:endParaRPr lang="en-US" sz="1100" dirty="0"/>
          </a:p>
          <a:p>
            <a:pPr marL="0" indent="0" algn="ctr">
              <a:buNone/>
            </a:pPr>
            <a:r>
              <a:rPr lang="en-US" sz="1100" b="1" dirty="0">
                <a:solidFill>
                  <a:srgbClr val="FFFFFF"/>
                </a:solidFill>
              </a:rPr>
              <a:t>Model</a:t>
            </a:r>
            <a:endParaRPr lang="en-US" sz="1100" dirty="0"/>
          </a:p>
        </p:txBody>
      </p:sp>
      <p:sp>
        <p:nvSpPr>
          <p:cNvPr id="10" name="Shape 8"/>
          <p:cNvSpPr/>
          <p:nvPr/>
        </p:nvSpPr>
        <p:spPr>
          <a:xfrm rot="5400000">
            <a:off x="6035040" y="2286000"/>
            <a:ext cx="320040" cy="137160"/>
          </a:xfrm>
          <a:prstGeom prst="triangle">
            <a:avLst/>
          </a:prstGeom>
          <a:solidFill>
            <a:srgbClr val="1F4788"/>
          </a:solidFill>
          <a:ln/>
        </p:spPr>
      </p:sp>
      <p:sp>
        <p:nvSpPr>
          <p:cNvPr id="11" name="Shape 9"/>
          <p:cNvSpPr/>
          <p:nvPr/>
        </p:nvSpPr>
        <p:spPr>
          <a:xfrm>
            <a:off x="6492240" y="1828800"/>
            <a:ext cx="2011680" cy="1097280"/>
          </a:xfrm>
          <a:prstGeom prst="roundRect">
            <a:avLst/>
          </a:prstGeom>
          <a:solidFill>
            <a:srgbClr val="4CAF50"/>
          </a:solidFill>
          <a:ln/>
        </p:spPr>
      </p:sp>
      <p:sp>
        <p:nvSpPr>
          <p:cNvPr id="12" name="Text 10"/>
          <p:cNvSpPr txBox="1"/>
          <p:nvPr/>
        </p:nvSpPr>
        <p:spPr>
          <a:xfrm>
            <a:off x="6492240" y="2057400"/>
            <a:ext cx="2011680" cy="640080"/>
          </a:xfrm>
          <a:prstGeom prst="rect">
            <a:avLst/>
          </a:prstGeom>
          <a:noFill/>
          <a:ln/>
        </p:spPr>
        <p:txBody>
          <a:bodyPr wrap="square" rtlCol="0" anchor="ctr"/>
          <a:lstStyle/>
          <a:p>
            <a:pPr marL="0" indent="0" algn="ctr">
              <a:buNone/>
            </a:pPr>
            <a:r>
              <a:rPr lang="en-US" sz="1100" b="1" dirty="0">
                <a:solidFill>
                  <a:srgbClr val="FFFFFF"/>
                </a:solidFill>
              </a:rPr>
              <a:t>Predicted</a:t>
            </a:r>
            <a:endParaRPr lang="en-US" sz="1100" dirty="0"/>
          </a:p>
          <a:p>
            <a:pPr marL="0" indent="0" algn="ctr">
              <a:buNone/>
            </a:pPr>
            <a:r>
              <a:rPr lang="en-US" sz="1100" b="1" dirty="0">
                <a:solidFill>
                  <a:srgbClr val="FFFFFF"/>
                </a:solidFill>
              </a:rPr>
              <a:t>Future MMR</a:t>
            </a:r>
            <a:endParaRPr lang="en-US" sz="1100" dirty="0"/>
          </a:p>
        </p:txBody>
      </p:sp>
      <p:sp>
        <p:nvSpPr>
          <p:cNvPr id="13" name="Text 11"/>
          <p:cNvSpPr txBox="1"/>
          <p:nvPr/>
        </p:nvSpPr>
        <p:spPr>
          <a:xfrm>
            <a:off x="457200" y="3200400"/>
            <a:ext cx="8229600" cy="274320"/>
          </a:xfrm>
          <a:prstGeom prst="rect">
            <a:avLst/>
          </a:prstGeom>
          <a:noFill/>
          <a:ln/>
        </p:spPr>
        <p:txBody>
          <a:bodyPr wrap="square" rtlCol="0" anchor="ctr"/>
          <a:lstStyle/>
          <a:p>
            <a:pPr marL="0" indent="0">
              <a:buNone/>
            </a:pPr>
            <a:r>
              <a:rPr lang="en-US" sz="1200" b="1" dirty="0">
                <a:solidFill>
                  <a:srgbClr val="1F4788"/>
                </a:solidFill>
              </a:rPr>
              <a:t>Model Explanation:</a:t>
            </a:r>
            <a:endParaRPr lang="en-US" sz="1200" dirty="0"/>
          </a:p>
        </p:txBody>
      </p:sp>
      <p:sp>
        <p:nvSpPr>
          <p:cNvPr id="14" name="Text 12"/>
          <p:cNvSpPr txBox="1"/>
          <p:nvPr/>
        </p:nvSpPr>
        <p:spPr>
          <a:xfrm>
            <a:off x="640080" y="3566160"/>
            <a:ext cx="7863840" cy="228600"/>
          </a:xfrm>
          <a:prstGeom prst="rect">
            <a:avLst/>
          </a:prstGeom>
          <a:noFill/>
          <a:ln/>
        </p:spPr>
        <p:txBody>
          <a:bodyPr wrap="square" rtlCol="0" anchor="ctr"/>
          <a:lstStyle/>
          <a:p>
            <a:pPr marL="0" indent="0">
              <a:buNone/>
            </a:pPr>
            <a:r>
              <a:rPr lang="en-US" sz="1000" dirty="0">
                <a:solidFill>
                  <a:srgbClr val="1F1F1F"/>
                </a:solidFill>
              </a:rPr>
              <a:t>• Input: Year (independent variable)</a:t>
            </a:r>
            <a:endParaRPr lang="en-US" sz="1000" dirty="0"/>
          </a:p>
        </p:txBody>
      </p:sp>
      <p:sp>
        <p:nvSpPr>
          <p:cNvPr id="15" name="Text 13"/>
          <p:cNvSpPr txBox="1"/>
          <p:nvPr/>
        </p:nvSpPr>
        <p:spPr>
          <a:xfrm>
            <a:off x="640080" y="3840480"/>
            <a:ext cx="7863840" cy="228600"/>
          </a:xfrm>
          <a:prstGeom prst="rect">
            <a:avLst/>
          </a:prstGeom>
          <a:noFill/>
          <a:ln/>
        </p:spPr>
        <p:txBody>
          <a:bodyPr wrap="square" rtlCol="0" anchor="ctr"/>
          <a:lstStyle/>
          <a:p>
            <a:pPr marL="0" indent="0">
              <a:buNone/>
            </a:pPr>
            <a:r>
              <a:rPr lang="en-US" sz="1000" dirty="0">
                <a:solidFill>
                  <a:srgbClr val="1F1F1F"/>
                </a:solidFill>
              </a:rPr>
              <a:t>• Output: Predicted MMR (dependent variable)</a:t>
            </a:r>
            <a:endParaRPr lang="en-US" sz="1000" dirty="0"/>
          </a:p>
        </p:txBody>
      </p:sp>
      <p:sp>
        <p:nvSpPr>
          <p:cNvPr id="16" name="Text 14"/>
          <p:cNvSpPr txBox="1"/>
          <p:nvPr/>
        </p:nvSpPr>
        <p:spPr>
          <a:xfrm>
            <a:off x="640080" y="4114800"/>
            <a:ext cx="7863840" cy="228600"/>
          </a:xfrm>
          <a:prstGeom prst="rect">
            <a:avLst/>
          </a:prstGeom>
          <a:noFill/>
          <a:ln/>
        </p:spPr>
        <p:txBody>
          <a:bodyPr wrap="square" rtlCol="0" anchor="ctr"/>
          <a:lstStyle/>
          <a:p>
            <a:pPr marL="0" indent="0">
              <a:buNone/>
            </a:pPr>
            <a:r>
              <a:rPr lang="en-US" sz="1000" dirty="0">
                <a:solidFill>
                  <a:srgbClr val="1F1F1F"/>
                </a:solidFill>
              </a:rPr>
              <a:t>• Learning: Fits historical yearly MMR trend</a:t>
            </a:r>
            <a:endParaRPr lang="en-US" sz="1000" dirty="0"/>
          </a:p>
        </p:txBody>
      </p:sp>
      <p:sp>
        <p:nvSpPr>
          <p:cNvPr id="17" name="Text 15"/>
          <p:cNvSpPr txBox="1"/>
          <p:nvPr/>
        </p:nvSpPr>
        <p:spPr>
          <a:xfrm>
            <a:off x="640080" y="4389120"/>
            <a:ext cx="7863840" cy="228600"/>
          </a:xfrm>
          <a:prstGeom prst="rect">
            <a:avLst/>
          </a:prstGeom>
          <a:noFill/>
          <a:ln/>
        </p:spPr>
        <p:txBody>
          <a:bodyPr wrap="square" rtlCol="0" anchor="ctr"/>
          <a:lstStyle/>
          <a:p>
            <a:pPr marL="0" indent="0">
              <a:buNone/>
            </a:pPr>
            <a:r>
              <a:rPr lang="en-US" sz="1000" dirty="0">
                <a:solidFill>
                  <a:srgbClr val="1F1F1F"/>
                </a:solidFill>
              </a:rPr>
              <a:t>• Prediction: Estimates 2030 MMR based on trend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Prototype / System Architecture</a:t>
            </a:r>
            <a:endParaRPr lang="en-US" sz="4000" dirty="0"/>
          </a:p>
        </p:txBody>
      </p:sp>
      <p:sp>
        <p:nvSpPr>
          <p:cNvPr id="4" name="Shape 2"/>
          <p:cNvSpPr/>
          <p:nvPr/>
        </p:nvSpPr>
        <p:spPr>
          <a:xfrm>
            <a:off x="1371600" y="1188720"/>
            <a:ext cx="6400800" cy="502920"/>
          </a:xfrm>
          <a:prstGeom prst="roundRect">
            <a:avLst/>
          </a:prstGeom>
          <a:solidFill>
            <a:srgbClr val="4A90E2"/>
          </a:solidFill>
          <a:ln/>
        </p:spPr>
      </p:sp>
      <p:sp>
        <p:nvSpPr>
          <p:cNvPr id="5" name="Text 3"/>
          <p:cNvSpPr txBox="1"/>
          <p:nvPr/>
        </p:nvSpPr>
        <p:spPr>
          <a:xfrm>
            <a:off x="1371600" y="1188720"/>
            <a:ext cx="6400800" cy="502920"/>
          </a:xfrm>
          <a:prstGeom prst="rect">
            <a:avLst/>
          </a:prstGeom>
          <a:noFill/>
          <a:ln/>
        </p:spPr>
        <p:txBody>
          <a:bodyPr wrap="square" rtlCol="0" anchor="ctr"/>
          <a:lstStyle/>
          <a:p>
            <a:pPr marL="0" indent="0" algn="ctr">
              <a:buNone/>
            </a:pPr>
            <a:r>
              <a:rPr lang="en-US" sz="1100" b="1" dirty="0">
                <a:solidFill>
                  <a:srgbClr val="FFFFFF"/>
                </a:solidFill>
              </a:rPr>
              <a:t>CSV Dataset</a:t>
            </a:r>
            <a:endParaRPr lang="en-US" sz="1100" dirty="0"/>
          </a:p>
        </p:txBody>
      </p:sp>
      <p:sp>
        <p:nvSpPr>
          <p:cNvPr id="6" name="Shape 4"/>
          <p:cNvSpPr/>
          <p:nvPr/>
        </p:nvSpPr>
        <p:spPr>
          <a:xfrm rot="5400000">
            <a:off x="4572000" y="1737360"/>
            <a:ext cx="274320" cy="228600"/>
          </a:xfrm>
          <a:prstGeom prst="triangle">
            <a:avLst/>
          </a:prstGeom>
          <a:solidFill>
            <a:srgbClr val="1F4788"/>
          </a:solidFill>
          <a:ln/>
        </p:spPr>
      </p:sp>
      <p:sp>
        <p:nvSpPr>
          <p:cNvPr id="7" name="Shape 5"/>
          <p:cNvSpPr/>
          <p:nvPr/>
        </p:nvSpPr>
        <p:spPr>
          <a:xfrm>
            <a:off x="1371600" y="1783080"/>
            <a:ext cx="6400800" cy="502920"/>
          </a:xfrm>
          <a:prstGeom prst="roundRect">
            <a:avLst/>
          </a:prstGeom>
          <a:solidFill>
            <a:srgbClr val="1F4788"/>
          </a:solidFill>
          <a:ln/>
        </p:spPr>
      </p:sp>
      <p:sp>
        <p:nvSpPr>
          <p:cNvPr id="8" name="Text 6"/>
          <p:cNvSpPr txBox="1"/>
          <p:nvPr/>
        </p:nvSpPr>
        <p:spPr>
          <a:xfrm>
            <a:off x="1371600" y="1783080"/>
            <a:ext cx="6400800" cy="502920"/>
          </a:xfrm>
          <a:prstGeom prst="rect">
            <a:avLst/>
          </a:prstGeom>
          <a:noFill/>
          <a:ln/>
        </p:spPr>
        <p:txBody>
          <a:bodyPr wrap="square" rtlCol="0" anchor="ctr"/>
          <a:lstStyle/>
          <a:p>
            <a:pPr marL="0" indent="0" algn="ctr">
              <a:buNone/>
            </a:pPr>
            <a:r>
              <a:rPr lang="en-US" sz="1100" b="1" dirty="0">
                <a:solidFill>
                  <a:srgbClr val="FFFFFF"/>
                </a:solidFill>
              </a:rPr>
              <a:t>Python + Pandas</a:t>
            </a:r>
            <a:endParaRPr lang="en-US" sz="1100" dirty="0"/>
          </a:p>
          <a:p>
            <a:pPr marL="0" indent="0" algn="ctr">
              <a:buNone/>
            </a:pPr>
            <a:r>
              <a:rPr lang="en-US" sz="1100" b="1" dirty="0">
                <a:solidFill>
                  <a:srgbClr val="FFFFFF"/>
                </a:solidFill>
              </a:rPr>
              <a:t>Data Processing</a:t>
            </a:r>
            <a:endParaRPr lang="en-US" sz="1100" dirty="0"/>
          </a:p>
        </p:txBody>
      </p:sp>
      <p:sp>
        <p:nvSpPr>
          <p:cNvPr id="9" name="Shape 7"/>
          <p:cNvSpPr/>
          <p:nvPr/>
        </p:nvSpPr>
        <p:spPr>
          <a:xfrm rot="5400000">
            <a:off x="4572000" y="2331720"/>
            <a:ext cx="274320" cy="228600"/>
          </a:xfrm>
          <a:prstGeom prst="triangle">
            <a:avLst/>
          </a:prstGeom>
          <a:solidFill>
            <a:srgbClr val="1F4788"/>
          </a:solidFill>
          <a:ln/>
        </p:spPr>
      </p:sp>
      <p:sp>
        <p:nvSpPr>
          <p:cNvPr id="10" name="Shape 8"/>
          <p:cNvSpPr/>
          <p:nvPr/>
        </p:nvSpPr>
        <p:spPr>
          <a:xfrm>
            <a:off x="1371600" y="2377440"/>
            <a:ext cx="6400800" cy="502920"/>
          </a:xfrm>
          <a:prstGeom prst="roundRect">
            <a:avLst/>
          </a:prstGeom>
          <a:solidFill>
            <a:srgbClr val="00BCD4"/>
          </a:solidFill>
          <a:ln/>
        </p:spPr>
      </p:sp>
      <p:sp>
        <p:nvSpPr>
          <p:cNvPr id="11" name="Text 9"/>
          <p:cNvSpPr txBox="1"/>
          <p:nvPr/>
        </p:nvSpPr>
        <p:spPr>
          <a:xfrm>
            <a:off x="1371600" y="2377440"/>
            <a:ext cx="6400800" cy="502920"/>
          </a:xfrm>
          <a:prstGeom prst="rect">
            <a:avLst/>
          </a:prstGeom>
          <a:noFill/>
          <a:ln/>
        </p:spPr>
        <p:txBody>
          <a:bodyPr wrap="square" rtlCol="0" anchor="ctr"/>
          <a:lstStyle/>
          <a:p>
            <a:pPr marL="0" indent="0" algn="ctr">
              <a:buNone/>
            </a:pPr>
            <a:r>
              <a:rPr lang="en-US" sz="1100" b="1" dirty="0">
                <a:solidFill>
                  <a:srgbClr val="FFFFFF"/>
                </a:solidFill>
              </a:rPr>
              <a:t>Analysis &amp; ML Model</a:t>
            </a:r>
            <a:endParaRPr lang="en-US" sz="1100" dirty="0"/>
          </a:p>
          <a:p>
            <a:pPr marL="0" indent="0" algn="ctr">
              <a:buNone/>
            </a:pPr>
            <a:r>
              <a:rPr lang="en-US" sz="1100" b="1" dirty="0">
                <a:solidFill>
                  <a:srgbClr val="FFFFFF"/>
                </a:solidFill>
              </a:rPr>
              <a:t>(Linear Regression)</a:t>
            </a:r>
            <a:endParaRPr lang="en-US" sz="1100" dirty="0"/>
          </a:p>
        </p:txBody>
      </p:sp>
      <p:sp>
        <p:nvSpPr>
          <p:cNvPr id="12" name="Shape 10"/>
          <p:cNvSpPr/>
          <p:nvPr/>
        </p:nvSpPr>
        <p:spPr>
          <a:xfrm rot="5400000">
            <a:off x="4572000" y="2926080"/>
            <a:ext cx="274320" cy="228600"/>
          </a:xfrm>
          <a:prstGeom prst="triangle">
            <a:avLst/>
          </a:prstGeom>
          <a:solidFill>
            <a:srgbClr val="1F4788"/>
          </a:solidFill>
          <a:ln/>
        </p:spPr>
      </p:sp>
      <p:sp>
        <p:nvSpPr>
          <p:cNvPr id="13" name="Shape 11"/>
          <p:cNvSpPr/>
          <p:nvPr/>
        </p:nvSpPr>
        <p:spPr>
          <a:xfrm>
            <a:off x="1371600" y="2971800"/>
            <a:ext cx="6400800" cy="502920"/>
          </a:xfrm>
          <a:prstGeom prst="roundRect">
            <a:avLst/>
          </a:prstGeom>
          <a:solidFill>
            <a:srgbClr val="1F4788"/>
          </a:solidFill>
          <a:ln/>
        </p:spPr>
      </p:sp>
      <p:sp>
        <p:nvSpPr>
          <p:cNvPr id="14" name="Text 12"/>
          <p:cNvSpPr txBox="1"/>
          <p:nvPr/>
        </p:nvSpPr>
        <p:spPr>
          <a:xfrm>
            <a:off x="1371600" y="2971800"/>
            <a:ext cx="6400800" cy="502920"/>
          </a:xfrm>
          <a:prstGeom prst="rect">
            <a:avLst/>
          </a:prstGeom>
          <a:noFill/>
          <a:ln/>
        </p:spPr>
        <p:txBody>
          <a:bodyPr wrap="square" rtlCol="0" anchor="ctr"/>
          <a:lstStyle/>
          <a:p>
            <a:pPr marL="0" indent="0" algn="ctr">
              <a:buNone/>
            </a:pPr>
            <a:r>
              <a:rPr lang="en-US" sz="1100" b="1" dirty="0">
                <a:solidFill>
                  <a:srgbClr val="FFFFFF"/>
                </a:solidFill>
              </a:rPr>
              <a:t>FastAPI Backend</a:t>
            </a:r>
            <a:endParaRPr lang="en-US" sz="1100" dirty="0"/>
          </a:p>
          <a:p>
            <a:pPr marL="0" indent="0" algn="ctr">
              <a:buNone/>
            </a:pPr>
            <a:r>
              <a:rPr lang="en-US" sz="1100" b="1" dirty="0">
                <a:solidFill>
                  <a:srgbClr val="FFFFFF"/>
                </a:solidFill>
              </a:rPr>
              <a:t>(REST Endpoints)</a:t>
            </a:r>
            <a:endParaRPr lang="en-US" sz="1100" dirty="0"/>
          </a:p>
        </p:txBody>
      </p:sp>
      <p:sp>
        <p:nvSpPr>
          <p:cNvPr id="15" name="Shape 13"/>
          <p:cNvSpPr/>
          <p:nvPr/>
        </p:nvSpPr>
        <p:spPr>
          <a:xfrm>
            <a:off x="1371600" y="3611880"/>
            <a:ext cx="6400800" cy="502920"/>
          </a:xfrm>
          <a:prstGeom prst="roundRect">
            <a:avLst/>
          </a:prstGeom>
          <a:solidFill>
            <a:srgbClr val="4CAF50"/>
          </a:solidFill>
          <a:ln/>
        </p:spPr>
      </p:sp>
      <p:sp>
        <p:nvSpPr>
          <p:cNvPr id="16" name="Text 14"/>
          <p:cNvSpPr txBox="1"/>
          <p:nvPr/>
        </p:nvSpPr>
        <p:spPr>
          <a:xfrm>
            <a:off x="1371600" y="3611880"/>
            <a:ext cx="6400800" cy="502920"/>
          </a:xfrm>
          <a:prstGeom prst="rect">
            <a:avLst/>
          </a:prstGeom>
          <a:noFill/>
          <a:ln/>
        </p:spPr>
        <p:txBody>
          <a:bodyPr wrap="square" rtlCol="0" anchor="ctr"/>
          <a:lstStyle/>
          <a:p>
            <a:pPr marL="0" indent="0" algn="ctr">
              <a:buNone/>
            </a:pPr>
            <a:r>
              <a:rPr lang="en-US" sz="1100" b="1" dirty="0">
                <a:solidFill>
                  <a:srgbClr val="FFFFFF"/>
                </a:solidFill>
              </a:rPr>
              <a:t>HTML/JavaScript Interactive Dashboard</a:t>
            </a:r>
            <a:endParaRPr lang="en-US" sz="1100" dirty="0"/>
          </a:p>
        </p:txBody>
      </p:sp>
      <p:sp>
        <p:nvSpPr>
          <p:cNvPr id="17" name="Shape 15"/>
          <p:cNvSpPr/>
          <p:nvPr/>
        </p:nvSpPr>
        <p:spPr>
          <a:xfrm>
            <a:off x="731520" y="4251960"/>
            <a:ext cx="1920240" cy="548640"/>
          </a:xfrm>
          <a:prstGeom prst="rect">
            <a:avLst/>
          </a:prstGeom>
          <a:solidFill>
            <a:srgbClr val="F5F5F5"/>
          </a:solidFill>
          <a:ln w="12700">
            <a:solidFill>
              <a:srgbClr val="E0E0E0"/>
            </a:solidFill>
            <a:prstDash val="solid"/>
          </a:ln>
        </p:spPr>
      </p:sp>
      <p:sp>
        <p:nvSpPr>
          <p:cNvPr id="18" name="Text 16"/>
          <p:cNvSpPr txBox="1"/>
          <p:nvPr/>
        </p:nvSpPr>
        <p:spPr>
          <a:xfrm>
            <a:off x="731520" y="4297680"/>
            <a:ext cx="1920240" cy="457200"/>
          </a:xfrm>
          <a:prstGeom prst="rect">
            <a:avLst/>
          </a:prstGeom>
          <a:noFill/>
          <a:ln/>
        </p:spPr>
        <p:txBody>
          <a:bodyPr wrap="square" rtlCol="0" anchor="ctr"/>
          <a:lstStyle/>
          <a:p>
            <a:pPr marL="0" indent="0" algn="ctr">
              <a:buNone/>
            </a:pPr>
            <a:r>
              <a:rPr lang="en-US" sz="1000" b="1" dirty="0">
                <a:solidFill>
                  <a:srgbClr val="1F1F1F"/>
                </a:solidFill>
              </a:rPr>
              <a:t>📊 Trends</a:t>
            </a:r>
            <a:endParaRPr lang="en-US" sz="1000" dirty="0"/>
          </a:p>
        </p:txBody>
      </p:sp>
      <p:sp>
        <p:nvSpPr>
          <p:cNvPr id="19" name="Shape 17"/>
          <p:cNvSpPr/>
          <p:nvPr/>
        </p:nvSpPr>
        <p:spPr>
          <a:xfrm>
            <a:off x="3566160" y="4251960"/>
            <a:ext cx="1920240" cy="548640"/>
          </a:xfrm>
          <a:prstGeom prst="rect">
            <a:avLst/>
          </a:prstGeom>
          <a:solidFill>
            <a:srgbClr val="F5F5F5"/>
          </a:solidFill>
          <a:ln w="12700">
            <a:solidFill>
              <a:srgbClr val="E0E0E0"/>
            </a:solidFill>
            <a:prstDash val="solid"/>
          </a:ln>
        </p:spPr>
      </p:sp>
      <p:sp>
        <p:nvSpPr>
          <p:cNvPr id="20" name="Text 18"/>
          <p:cNvSpPr txBox="1"/>
          <p:nvPr/>
        </p:nvSpPr>
        <p:spPr>
          <a:xfrm>
            <a:off x="3566160" y="4297680"/>
            <a:ext cx="1920240" cy="457200"/>
          </a:xfrm>
          <a:prstGeom prst="rect">
            <a:avLst/>
          </a:prstGeom>
          <a:noFill/>
          <a:ln/>
        </p:spPr>
        <p:txBody>
          <a:bodyPr wrap="square" rtlCol="0" anchor="ctr"/>
          <a:lstStyle/>
          <a:p>
            <a:pPr marL="0" indent="0" algn="ctr">
              <a:buNone/>
            </a:pPr>
            <a:r>
              <a:rPr lang="en-US" sz="1000" b="1" dirty="0">
                <a:solidFill>
                  <a:srgbClr val="1F1F1F"/>
                </a:solidFill>
              </a:rPr>
              <a:t>🔮 Prediction</a:t>
            </a:r>
            <a:endParaRPr lang="en-US" sz="1000" dirty="0"/>
          </a:p>
        </p:txBody>
      </p:sp>
      <p:sp>
        <p:nvSpPr>
          <p:cNvPr id="21" name="Shape 19"/>
          <p:cNvSpPr/>
          <p:nvPr/>
        </p:nvSpPr>
        <p:spPr>
          <a:xfrm>
            <a:off x="6400800" y="4251960"/>
            <a:ext cx="1920240" cy="548640"/>
          </a:xfrm>
          <a:prstGeom prst="rect">
            <a:avLst/>
          </a:prstGeom>
          <a:solidFill>
            <a:srgbClr val="F5F5F5"/>
          </a:solidFill>
          <a:ln w="12700">
            <a:solidFill>
              <a:srgbClr val="E0E0E0"/>
            </a:solidFill>
            <a:prstDash val="solid"/>
          </a:ln>
        </p:spPr>
      </p:sp>
      <p:sp>
        <p:nvSpPr>
          <p:cNvPr id="22" name="Text 20"/>
          <p:cNvSpPr txBox="1"/>
          <p:nvPr/>
        </p:nvSpPr>
        <p:spPr>
          <a:xfrm>
            <a:off x="6400800" y="4297680"/>
            <a:ext cx="1920240" cy="457200"/>
          </a:xfrm>
          <a:prstGeom prst="rect">
            <a:avLst/>
          </a:prstGeom>
          <a:noFill/>
          <a:ln/>
        </p:spPr>
        <p:txBody>
          <a:bodyPr wrap="square" rtlCol="0" anchor="ctr"/>
          <a:lstStyle/>
          <a:p>
            <a:pPr marL="0" indent="0" algn="ctr">
              <a:buNone/>
            </a:pPr>
            <a:r>
              <a:rPr lang="en-US" sz="1000" b="1" dirty="0">
                <a:solidFill>
                  <a:srgbClr val="1F1F1F"/>
                </a:solidFill>
              </a:rPr>
              <a:t>🎯 SDG Progress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Dashboard </a:t>
            </a:r>
            <a:endParaRPr lang="en-US" sz="4000" dirty="0"/>
          </a:p>
        </p:txBody>
      </p:sp>
      <p:sp>
        <p:nvSpPr>
          <p:cNvPr id="4" name="Text 2"/>
          <p:cNvSpPr txBox="1"/>
          <p:nvPr/>
        </p:nvSpPr>
        <p:spPr>
          <a:xfrm>
            <a:off x="457200" y="1097280"/>
            <a:ext cx="8229600" cy="274320"/>
          </a:xfrm>
          <a:prstGeom prst="rect">
            <a:avLst/>
          </a:prstGeom>
          <a:noFill/>
          <a:ln/>
        </p:spPr>
        <p:txBody>
          <a:bodyPr wrap="square" rtlCol="0" anchor="ctr"/>
          <a:lstStyle/>
          <a:p>
            <a:pPr marL="0" indent="0">
              <a:buNone/>
            </a:pPr>
            <a:r>
              <a:rPr lang="en-US" sz="1300" b="1" dirty="0">
                <a:solidFill>
                  <a:srgbClr val="1F4788"/>
                </a:solidFill>
              </a:rPr>
              <a:t>Key Dashboard Sections:</a:t>
            </a:r>
            <a:endParaRPr lang="en-US" sz="1300" dirty="0"/>
          </a:p>
        </p:txBody>
      </p:sp>
      <p:sp>
        <p:nvSpPr>
          <p:cNvPr id="5" name="Shape 3"/>
          <p:cNvSpPr/>
          <p:nvPr/>
        </p:nvSpPr>
        <p:spPr>
          <a:xfrm>
            <a:off x="457200" y="1508760"/>
            <a:ext cx="4206240" cy="868680"/>
          </a:xfrm>
          <a:prstGeom prst="roundRect">
            <a:avLst/>
          </a:prstGeom>
          <a:solidFill>
            <a:srgbClr val="F5F5F5"/>
          </a:solidFill>
          <a:ln w="12700">
            <a:solidFill>
              <a:srgbClr val="E0E0E0"/>
            </a:solidFill>
            <a:prstDash val="solid"/>
          </a:ln>
        </p:spPr>
      </p:sp>
      <p:sp>
        <p:nvSpPr>
          <p:cNvPr id="6" name="Text 4"/>
          <p:cNvSpPr txBox="1"/>
          <p:nvPr/>
        </p:nvSpPr>
        <p:spPr>
          <a:xfrm>
            <a:off x="640080" y="1600200"/>
            <a:ext cx="3840480" cy="274320"/>
          </a:xfrm>
          <a:prstGeom prst="rect">
            <a:avLst/>
          </a:prstGeom>
          <a:noFill/>
          <a:ln/>
        </p:spPr>
        <p:txBody>
          <a:bodyPr wrap="square" rtlCol="0" anchor="ctr"/>
          <a:lstStyle/>
          <a:p>
            <a:pPr marL="0" indent="0">
              <a:buNone/>
            </a:pPr>
            <a:r>
              <a:rPr lang="en-US" sz="1100" b="1" dirty="0">
                <a:solidFill>
                  <a:srgbClr val="1F4788"/>
                </a:solidFill>
              </a:rPr>
              <a:t>📈 Overview</a:t>
            </a:r>
            <a:endParaRPr lang="en-US" sz="1100" dirty="0"/>
          </a:p>
        </p:txBody>
      </p:sp>
      <p:sp>
        <p:nvSpPr>
          <p:cNvPr id="7" name="Text 5"/>
          <p:cNvSpPr txBox="1"/>
          <p:nvPr/>
        </p:nvSpPr>
        <p:spPr>
          <a:xfrm>
            <a:off x="640080" y="1892808"/>
            <a:ext cx="3840480" cy="365760"/>
          </a:xfrm>
          <a:prstGeom prst="rect">
            <a:avLst/>
          </a:prstGeom>
          <a:noFill/>
          <a:ln/>
        </p:spPr>
        <p:txBody>
          <a:bodyPr wrap="square" rtlCol="0" anchor="ctr"/>
          <a:lstStyle/>
          <a:p>
            <a:pPr marL="0" indent="0">
              <a:buNone/>
            </a:pPr>
            <a:r>
              <a:rPr lang="en-US" sz="900" dirty="0">
                <a:solidFill>
                  <a:srgbClr val="1F1F1F"/>
                </a:solidFill>
              </a:rPr>
              <a:t>Average MMR, Latest Year, Area Count</a:t>
            </a:r>
            <a:endParaRPr lang="en-US" sz="900" dirty="0"/>
          </a:p>
        </p:txBody>
      </p:sp>
      <p:sp>
        <p:nvSpPr>
          <p:cNvPr id="8" name="Shape 6"/>
          <p:cNvSpPr/>
          <p:nvPr/>
        </p:nvSpPr>
        <p:spPr>
          <a:xfrm>
            <a:off x="4937760" y="1508760"/>
            <a:ext cx="4206240" cy="868680"/>
          </a:xfrm>
          <a:prstGeom prst="roundRect">
            <a:avLst/>
          </a:prstGeom>
          <a:solidFill>
            <a:srgbClr val="F5F5F5"/>
          </a:solidFill>
          <a:ln w="12700">
            <a:solidFill>
              <a:srgbClr val="E0E0E0"/>
            </a:solidFill>
            <a:prstDash val="solid"/>
          </a:ln>
        </p:spPr>
      </p:sp>
      <p:sp>
        <p:nvSpPr>
          <p:cNvPr id="9" name="Text 7"/>
          <p:cNvSpPr txBox="1"/>
          <p:nvPr/>
        </p:nvSpPr>
        <p:spPr>
          <a:xfrm>
            <a:off x="5120640" y="1600200"/>
            <a:ext cx="3840480" cy="274320"/>
          </a:xfrm>
          <a:prstGeom prst="rect">
            <a:avLst/>
          </a:prstGeom>
          <a:noFill/>
          <a:ln/>
        </p:spPr>
        <p:txBody>
          <a:bodyPr wrap="square" rtlCol="0" anchor="ctr"/>
          <a:lstStyle/>
          <a:p>
            <a:pPr marL="0" indent="0">
              <a:buNone/>
            </a:pPr>
            <a:r>
              <a:rPr lang="en-US" sz="1100" b="1" dirty="0">
                <a:solidFill>
                  <a:srgbClr val="1F4788"/>
                </a:solidFill>
              </a:rPr>
              <a:t>📊 MMR Analysis</a:t>
            </a:r>
            <a:endParaRPr lang="en-US" sz="1100" dirty="0"/>
          </a:p>
        </p:txBody>
      </p:sp>
      <p:sp>
        <p:nvSpPr>
          <p:cNvPr id="10" name="Text 8"/>
          <p:cNvSpPr txBox="1"/>
          <p:nvPr/>
        </p:nvSpPr>
        <p:spPr>
          <a:xfrm>
            <a:off x="5120640" y="1892808"/>
            <a:ext cx="3840480" cy="365760"/>
          </a:xfrm>
          <a:prstGeom prst="rect">
            <a:avLst/>
          </a:prstGeom>
          <a:noFill/>
          <a:ln/>
        </p:spPr>
        <p:txBody>
          <a:bodyPr wrap="square" rtlCol="0" anchor="ctr"/>
          <a:lstStyle/>
          <a:p>
            <a:pPr marL="0" indent="0">
              <a:buNone/>
            </a:pPr>
            <a:r>
              <a:rPr lang="en-US" sz="900" dirty="0">
                <a:solidFill>
                  <a:srgbClr val="1F1F1F"/>
                </a:solidFill>
              </a:rPr>
              <a:t>Historical trends and area comparisons</a:t>
            </a:r>
            <a:endParaRPr lang="en-US" sz="900" dirty="0"/>
          </a:p>
        </p:txBody>
      </p:sp>
      <p:sp>
        <p:nvSpPr>
          <p:cNvPr id="11" name="Shape 9"/>
          <p:cNvSpPr/>
          <p:nvPr/>
        </p:nvSpPr>
        <p:spPr>
          <a:xfrm>
            <a:off x="457200" y="2514600"/>
            <a:ext cx="4206240" cy="868680"/>
          </a:xfrm>
          <a:prstGeom prst="roundRect">
            <a:avLst/>
          </a:prstGeom>
          <a:solidFill>
            <a:srgbClr val="F5F5F5"/>
          </a:solidFill>
          <a:ln w="12700">
            <a:solidFill>
              <a:srgbClr val="E0E0E0"/>
            </a:solidFill>
            <a:prstDash val="solid"/>
          </a:ln>
        </p:spPr>
      </p:sp>
      <p:sp>
        <p:nvSpPr>
          <p:cNvPr id="12" name="Text 10"/>
          <p:cNvSpPr txBox="1"/>
          <p:nvPr/>
        </p:nvSpPr>
        <p:spPr>
          <a:xfrm>
            <a:off x="640080" y="2606040"/>
            <a:ext cx="3840480" cy="274320"/>
          </a:xfrm>
          <a:prstGeom prst="rect">
            <a:avLst/>
          </a:prstGeom>
          <a:noFill/>
          <a:ln/>
        </p:spPr>
        <p:txBody>
          <a:bodyPr wrap="square" rtlCol="0" anchor="ctr"/>
          <a:lstStyle/>
          <a:p>
            <a:pPr marL="0" indent="0">
              <a:buNone/>
            </a:pPr>
            <a:r>
              <a:rPr lang="en-US" sz="1100" b="1" dirty="0">
                <a:solidFill>
                  <a:srgbClr val="1F4788"/>
                </a:solidFill>
              </a:rPr>
              <a:t>🔮 Prediction</a:t>
            </a:r>
            <a:endParaRPr lang="en-US" sz="1100" dirty="0"/>
          </a:p>
        </p:txBody>
      </p:sp>
      <p:sp>
        <p:nvSpPr>
          <p:cNvPr id="13" name="Text 11"/>
          <p:cNvSpPr txBox="1"/>
          <p:nvPr/>
        </p:nvSpPr>
        <p:spPr>
          <a:xfrm>
            <a:off x="640080" y="2898648"/>
            <a:ext cx="3840480" cy="365760"/>
          </a:xfrm>
          <a:prstGeom prst="rect">
            <a:avLst/>
          </a:prstGeom>
          <a:noFill/>
          <a:ln/>
        </p:spPr>
        <p:txBody>
          <a:bodyPr wrap="square" rtlCol="0" anchor="ctr"/>
          <a:lstStyle/>
          <a:p>
            <a:pPr marL="0" indent="0">
              <a:buNone/>
            </a:pPr>
            <a:r>
              <a:rPr lang="en-US" sz="900" dirty="0">
                <a:solidFill>
                  <a:srgbClr val="1F1F1F"/>
                </a:solidFill>
              </a:rPr>
              <a:t>2030 MMR forecast with confidence</a:t>
            </a:r>
            <a:endParaRPr lang="en-US" sz="900" dirty="0"/>
          </a:p>
        </p:txBody>
      </p:sp>
      <p:sp>
        <p:nvSpPr>
          <p:cNvPr id="14" name="Shape 12"/>
          <p:cNvSpPr/>
          <p:nvPr/>
        </p:nvSpPr>
        <p:spPr>
          <a:xfrm>
            <a:off x="4937760" y="2514600"/>
            <a:ext cx="4206240" cy="868680"/>
          </a:xfrm>
          <a:prstGeom prst="roundRect">
            <a:avLst/>
          </a:prstGeom>
          <a:solidFill>
            <a:srgbClr val="F5F5F5"/>
          </a:solidFill>
          <a:ln w="12700">
            <a:solidFill>
              <a:srgbClr val="E0E0E0"/>
            </a:solidFill>
            <a:prstDash val="solid"/>
          </a:ln>
        </p:spPr>
      </p:sp>
      <p:sp>
        <p:nvSpPr>
          <p:cNvPr id="15" name="Text 13"/>
          <p:cNvSpPr txBox="1"/>
          <p:nvPr/>
        </p:nvSpPr>
        <p:spPr>
          <a:xfrm>
            <a:off x="5120640" y="2606040"/>
            <a:ext cx="3840480" cy="274320"/>
          </a:xfrm>
          <a:prstGeom prst="rect">
            <a:avLst/>
          </a:prstGeom>
          <a:noFill/>
          <a:ln/>
        </p:spPr>
        <p:txBody>
          <a:bodyPr wrap="square" rtlCol="0" anchor="ctr"/>
          <a:lstStyle/>
          <a:p>
            <a:pPr marL="0" indent="0">
              <a:buNone/>
            </a:pPr>
            <a:r>
              <a:rPr lang="en-US" sz="1100" b="1" dirty="0">
                <a:solidFill>
                  <a:srgbClr val="1F4788"/>
                </a:solidFill>
              </a:rPr>
              <a:t>🎯 SDG Progress</a:t>
            </a:r>
            <a:endParaRPr lang="en-US" sz="1100" dirty="0"/>
          </a:p>
        </p:txBody>
      </p:sp>
      <p:sp>
        <p:nvSpPr>
          <p:cNvPr id="16" name="Text 14"/>
          <p:cNvSpPr txBox="1"/>
          <p:nvPr/>
        </p:nvSpPr>
        <p:spPr>
          <a:xfrm>
            <a:off x="5120640" y="2898648"/>
            <a:ext cx="3840480" cy="365760"/>
          </a:xfrm>
          <a:prstGeom prst="rect">
            <a:avLst/>
          </a:prstGeom>
          <a:noFill/>
          <a:ln/>
        </p:spPr>
        <p:txBody>
          <a:bodyPr wrap="square" rtlCol="0" anchor="ctr"/>
          <a:lstStyle/>
          <a:p>
            <a:pPr marL="0" indent="0">
              <a:buNone/>
            </a:pPr>
            <a:r>
              <a:rPr lang="en-US" sz="900" dirty="0">
                <a:solidFill>
                  <a:srgbClr val="1F1F1F"/>
                </a:solidFill>
              </a:rPr>
              <a:t>Target achievement status</a:t>
            </a:r>
            <a:endParaRPr lang="en-US" sz="900" dirty="0"/>
          </a:p>
        </p:txBody>
      </p:sp>
      <p:sp>
        <p:nvSpPr>
          <p:cNvPr id="17" name="Shape 15"/>
          <p:cNvSpPr/>
          <p:nvPr/>
        </p:nvSpPr>
        <p:spPr>
          <a:xfrm>
            <a:off x="457200" y="3520440"/>
            <a:ext cx="4206240" cy="868680"/>
          </a:xfrm>
          <a:prstGeom prst="roundRect">
            <a:avLst/>
          </a:prstGeom>
          <a:solidFill>
            <a:srgbClr val="F5F5F5"/>
          </a:solidFill>
          <a:ln w="12700">
            <a:solidFill>
              <a:srgbClr val="E0E0E0"/>
            </a:solidFill>
            <a:prstDash val="solid"/>
          </a:ln>
        </p:spPr>
      </p:sp>
      <p:sp>
        <p:nvSpPr>
          <p:cNvPr id="18" name="Text 16"/>
          <p:cNvSpPr txBox="1"/>
          <p:nvPr/>
        </p:nvSpPr>
        <p:spPr>
          <a:xfrm>
            <a:off x="640080" y="3611880"/>
            <a:ext cx="3840480" cy="274320"/>
          </a:xfrm>
          <a:prstGeom prst="rect">
            <a:avLst/>
          </a:prstGeom>
          <a:noFill/>
          <a:ln/>
        </p:spPr>
        <p:txBody>
          <a:bodyPr wrap="square" rtlCol="0" anchor="ctr"/>
          <a:lstStyle/>
          <a:p>
            <a:pPr marL="0" indent="0">
              <a:buNone/>
            </a:pPr>
            <a:r>
              <a:rPr lang="en-US" sz="1100" b="1" dirty="0">
                <a:solidFill>
                  <a:srgbClr val="1F4788"/>
                </a:solidFill>
              </a:rPr>
              <a:t>🏆 Area Rankings</a:t>
            </a:r>
            <a:endParaRPr lang="en-US" sz="1100" dirty="0"/>
          </a:p>
        </p:txBody>
      </p:sp>
      <p:sp>
        <p:nvSpPr>
          <p:cNvPr id="19" name="Text 17"/>
          <p:cNvSpPr txBox="1"/>
          <p:nvPr/>
        </p:nvSpPr>
        <p:spPr>
          <a:xfrm>
            <a:off x="640080" y="3904488"/>
            <a:ext cx="3840480" cy="365760"/>
          </a:xfrm>
          <a:prstGeom prst="rect">
            <a:avLst/>
          </a:prstGeom>
          <a:noFill/>
          <a:ln/>
        </p:spPr>
        <p:txBody>
          <a:bodyPr wrap="square" rtlCol="0" anchor="ctr"/>
          <a:lstStyle/>
          <a:p>
            <a:pPr marL="0" indent="0">
              <a:buNone/>
            </a:pPr>
            <a:r>
              <a:rPr lang="en-US" sz="900" dirty="0">
                <a:solidFill>
                  <a:srgbClr val="1F1F1F"/>
                </a:solidFill>
              </a:rPr>
              <a:t>MMR ranking by area</a:t>
            </a:r>
            <a:endParaRPr lang="en-US" sz="900" dirty="0"/>
          </a:p>
        </p:txBody>
      </p:sp>
      <p:sp>
        <p:nvSpPr>
          <p:cNvPr id="20" name="Shape 18"/>
          <p:cNvSpPr/>
          <p:nvPr/>
        </p:nvSpPr>
        <p:spPr>
          <a:xfrm>
            <a:off x="4937760" y="3520440"/>
            <a:ext cx="4206240" cy="868680"/>
          </a:xfrm>
          <a:prstGeom prst="roundRect">
            <a:avLst/>
          </a:prstGeom>
          <a:solidFill>
            <a:srgbClr val="F5F5F5"/>
          </a:solidFill>
          <a:ln w="12700">
            <a:solidFill>
              <a:srgbClr val="E0E0E0"/>
            </a:solidFill>
            <a:prstDash val="solid"/>
          </a:ln>
        </p:spPr>
      </p:sp>
      <p:sp>
        <p:nvSpPr>
          <p:cNvPr id="21" name="Text 19"/>
          <p:cNvSpPr txBox="1"/>
          <p:nvPr/>
        </p:nvSpPr>
        <p:spPr>
          <a:xfrm>
            <a:off x="5120640" y="3611880"/>
            <a:ext cx="3840480" cy="274320"/>
          </a:xfrm>
          <a:prstGeom prst="rect">
            <a:avLst/>
          </a:prstGeom>
          <a:noFill/>
          <a:ln/>
        </p:spPr>
        <p:txBody>
          <a:bodyPr wrap="square" rtlCol="0" anchor="ctr"/>
          <a:lstStyle/>
          <a:p>
            <a:pPr marL="0" indent="0">
              <a:buNone/>
            </a:pPr>
            <a:r>
              <a:rPr lang="en-US" sz="1100" b="1" dirty="0">
                <a:solidFill>
                  <a:srgbClr val="1F4788"/>
                </a:solidFill>
              </a:rPr>
              <a:t>🤖 Model Info</a:t>
            </a:r>
            <a:endParaRPr lang="en-US" sz="1100" dirty="0"/>
          </a:p>
        </p:txBody>
      </p:sp>
      <p:sp>
        <p:nvSpPr>
          <p:cNvPr id="22" name="Text 20"/>
          <p:cNvSpPr txBox="1"/>
          <p:nvPr/>
        </p:nvSpPr>
        <p:spPr>
          <a:xfrm>
            <a:off x="5120640" y="3904488"/>
            <a:ext cx="3840480" cy="365760"/>
          </a:xfrm>
          <a:prstGeom prst="rect">
            <a:avLst/>
          </a:prstGeom>
          <a:noFill/>
          <a:ln/>
        </p:spPr>
        <p:txBody>
          <a:bodyPr wrap="square" rtlCol="0" anchor="ctr"/>
          <a:lstStyle/>
          <a:p>
            <a:pPr marL="0" indent="0">
              <a:buNone/>
            </a:pPr>
            <a:r>
              <a:rPr lang="en-US" sz="900" dirty="0">
                <a:solidFill>
                  <a:srgbClr val="1F1F1F"/>
                </a:solidFill>
              </a:rPr>
              <a:t>Machine learning methodology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22FBA61-F868-4430-34A3-D007955D8B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68F983-C67C-0D08-58F8-4C1C82B0BB7B}"/>
              </a:ext>
            </a:extLst>
          </p:cNvPr>
          <p:cNvSpPr/>
          <p:nvPr/>
        </p:nvSpPr>
        <p:spPr>
          <a:xfrm>
            <a:off x="0" y="0"/>
            <a:ext cx="9144000" cy="731520"/>
          </a:xfrm>
          <a:prstGeom prst="rect">
            <a:avLst/>
          </a:prstGeom>
          <a:solidFill>
            <a:srgbClr val="1F4788"/>
          </a:solidFill>
          <a:ln/>
        </p:spPr>
      </p:sp>
      <p:sp>
        <p:nvSpPr>
          <p:cNvPr id="3" name="Text 1">
            <a:extLst>
              <a:ext uri="{FF2B5EF4-FFF2-40B4-BE49-F238E27FC236}">
                <a16:creationId xmlns:a16="http://schemas.microsoft.com/office/drawing/2014/main" id="{77DEB9FB-BBAE-A26C-A292-282236D9FD16}"/>
              </a:ext>
            </a:extLst>
          </p:cNvPr>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Prototype screenshot</a:t>
            </a:r>
            <a:endParaRPr lang="en-US" sz="4000" dirty="0"/>
          </a:p>
        </p:txBody>
      </p:sp>
      <p:pic>
        <p:nvPicPr>
          <p:cNvPr id="24" name="Picture 23">
            <a:extLst>
              <a:ext uri="{FF2B5EF4-FFF2-40B4-BE49-F238E27FC236}">
                <a16:creationId xmlns:a16="http://schemas.microsoft.com/office/drawing/2014/main" id="{AE95B3F1-C6BF-366A-3103-953CFAC68328}"/>
              </a:ext>
            </a:extLst>
          </p:cNvPr>
          <p:cNvPicPr>
            <a:picLocks noChangeAspect="1"/>
          </p:cNvPicPr>
          <p:nvPr/>
        </p:nvPicPr>
        <p:blipFill>
          <a:blip r:embed="rId3"/>
          <a:stretch>
            <a:fillRect/>
          </a:stretch>
        </p:blipFill>
        <p:spPr>
          <a:xfrm>
            <a:off x="675250" y="794824"/>
            <a:ext cx="7631723" cy="4269545"/>
          </a:xfrm>
          <a:prstGeom prst="rect">
            <a:avLst/>
          </a:prstGeom>
        </p:spPr>
      </p:pic>
    </p:spTree>
    <p:extLst>
      <p:ext uri="{BB962C8B-B14F-4D97-AF65-F5344CB8AC3E}">
        <p14:creationId xmlns:p14="http://schemas.microsoft.com/office/powerpoint/2010/main" val="3399015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Results &amp; Insights</a:t>
            </a:r>
            <a:endParaRPr lang="en-US" sz="4000" dirty="0"/>
          </a:p>
        </p:txBody>
      </p:sp>
      <p:sp>
        <p:nvSpPr>
          <p:cNvPr id="4" name="Text 2"/>
          <p:cNvSpPr txBox="1"/>
          <p:nvPr/>
        </p:nvSpPr>
        <p:spPr>
          <a:xfrm>
            <a:off x="457200" y="1097280"/>
            <a:ext cx="8229600" cy="274320"/>
          </a:xfrm>
          <a:prstGeom prst="rect">
            <a:avLst/>
          </a:prstGeom>
          <a:noFill/>
          <a:ln/>
        </p:spPr>
        <p:txBody>
          <a:bodyPr wrap="square" rtlCol="0" anchor="ctr"/>
          <a:lstStyle/>
          <a:p>
            <a:pPr marL="0" indent="0">
              <a:buNone/>
            </a:pPr>
            <a:r>
              <a:rPr lang="en-US" sz="1300" b="1" dirty="0">
                <a:solidFill>
                  <a:srgbClr val="1F4788"/>
                </a:solidFill>
              </a:rPr>
              <a:t>Dashboard Provides:</a:t>
            </a:r>
            <a:endParaRPr lang="en-US" sz="1300" dirty="0"/>
          </a:p>
        </p:txBody>
      </p:sp>
      <p:sp>
        <p:nvSpPr>
          <p:cNvPr id="5" name="Text 3"/>
          <p:cNvSpPr txBox="1"/>
          <p:nvPr/>
        </p:nvSpPr>
        <p:spPr>
          <a:xfrm>
            <a:off x="640080" y="1600200"/>
            <a:ext cx="3749040" cy="457200"/>
          </a:xfrm>
          <a:prstGeom prst="rect">
            <a:avLst/>
          </a:prstGeom>
          <a:noFill/>
          <a:ln/>
        </p:spPr>
        <p:txBody>
          <a:bodyPr wrap="square" rtlCol="0" anchor="ctr"/>
          <a:lstStyle/>
          <a:p>
            <a:pPr marL="0" indent="0">
              <a:buNone/>
            </a:pPr>
            <a:r>
              <a:rPr lang="en-US" sz="1100" dirty="0">
                <a:solidFill>
                  <a:srgbClr val="1F1F1F"/>
                </a:solidFill>
              </a:rPr>
              <a:t>✓ Average MMR calculation</a:t>
            </a:r>
            <a:endParaRPr lang="en-US" sz="1100" dirty="0"/>
          </a:p>
        </p:txBody>
      </p:sp>
      <p:sp>
        <p:nvSpPr>
          <p:cNvPr id="6" name="Text 4"/>
          <p:cNvSpPr txBox="1"/>
          <p:nvPr/>
        </p:nvSpPr>
        <p:spPr>
          <a:xfrm>
            <a:off x="4754880" y="1600200"/>
            <a:ext cx="3749040" cy="457200"/>
          </a:xfrm>
          <a:prstGeom prst="rect">
            <a:avLst/>
          </a:prstGeom>
          <a:noFill/>
          <a:ln/>
        </p:spPr>
        <p:txBody>
          <a:bodyPr wrap="square" rtlCol="0" anchor="ctr"/>
          <a:lstStyle/>
          <a:p>
            <a:pPr marL="0" indent="0">
              <a:buNone/>
            </a:pPr>
            <a:r>
              <a:rPr lang="en-US" sz="1100" dirty="0">
                <a:solidFill>
                  <a:srgbClr val="1F1F1F"/>
                </a:solidFill>
              </a:rPr>
              <a:t>✓ Latest MMR by area</a:t>
            </a:r>
            <a:endParaRPr lang="en-US" sz="1100" dirty="0"/>
          </a:p>
        </p:txBody>
      </p:sp>
      <p:sp>
        <p:nvSpPr>
          <p:cNvPr id="7" name="Text 5"/>
          <p:cNvSpPr txBox="1"/>
          <p:nvPr/>
        </p:nvSpPr>
        <p:spPr>
          <a:xfrm>
            <a:off x="640080" y="2240280"/>
            <a:ext cx="3749040" cy="457200"/>
          </a:xfrm>
          <a:prstGeom prst="rect">
            <a:avLst/>
          </a:prstGeom>
          <a:noFill/>
          <a:ln/>
        </p:spPr>
        <p:txBody>
          <a:bodyPr wrap="square" rtlCol="0" anchor="ctr"/>
          <a:lstStyle/>
          <a:p>
            <a:pPr marL="0" indent="0">
              <a:buNone/>
            </a:pPr>
            <a:r>
              <a:rPr lang="en-US" sz="1100" dirty="0">
                <a:solidFill>
                  <a:srgbClr val="1F1F1F"/>
                </a:solidFill>
              </a:rPr>
              <a:t>✓ Historical MMR trends</a:t>
            </a:r>
            <a:endParaRPr lang="en-US" sz="1100" dirty="0"/>
          </a:p>
        </p:txBody>
      </p:sp>
      <p:sp>
        <p:nvSpPr>
          <p:cNvPr id="8" name="Text 6"/>
          <p:cNvSpPr txBox="1"/>
          <p:nvPr/>
        </p:nvSpPr>
        <p:spPr>
          <a:xfrm>
            <a:off x="4754880" y="2240280"/>
            <a:ext cx="3749040" cy="457200"/>
          </a:xfrm>
          <a:prstGeom prst="rect">
            <a:avLst/>
          </a:prstGeom>
          <a:noFill/>
          <a:ln/>
        </p:spPr>
        <p:txBody>
          <a:bodyPr wrap="square" rtlCol="0" anchor="ctr"/>
          <a:lstStyle/>
          <a:p>
            <a:pPr marL="0" indent="0">
              <a:buNone/>
            </a:pPr>
            <a:r>
              <a:rPr lang="en-US" sz="1100" dirty="0">
                <a:solidFill>
                  <a:srgbClr val="1F1F1F"/>
                </a:solidFill>
              </a:rPr>
              <a:t>✓ Area-wise ranking</a:t>
            </a:r>
            <a:endParaRPr lang="en-US" sz="1100" dirty="0"/>
          </a:p>
        </p:txBody>
      </p:sp>
      <p:sp>
        <p:nvSpPr>
          <p:cNvPr id="9" name="Text 7"/>
          <p:cNvSpPr txBox="1"/>
          <p:nvPr/>
        </p:nvSpPr>
        <p:spPr>
          <a:xfrm>
            <a:off x="640080" y="2880360"/>
            <a:ext cx="3749040" cy="457200"/>
          </a:xfrm>
          <a:prstGeom prst="rect">
            <a:avLst/>
          </a:prstGeom>
          <a:noFill/>
          <a:ln/>
        </p:spPr>
        <p:txBody>
          <a:bodyPr wrap="square" rtlCol="0" anchor="ctr"/>
          <a:lstStyle/>
          <a:p>
            <a:pPr marL="0" indent="0">
              <a:buNone/>
            </a:pPr>
            <a:r>
              <a:rPr lang="en-US" sz="1100" dirty="0">
                <a:solidFill>
                  <a:srgbClr val="1F1F1F"/>
                </a:solidFill>
              </a:rPr>
              <a:t>✓ Predicted 2030 MMR</a:t>
            </a:r>
            <a:endParaRPr lang="en-US" sz="1100" dirty="0"/>
          </a:p>
        </p:txBody>
      </p:sp>
      <p:sp>
        <p:nvSpPr>
          <p:cNvPr id="10" name="Text 8"/>
          <p:cNvSpPr txBox="1"/>
          <p:nvPr/>
        </p:nvSpPr>
        <p:spPr>
          <a:xfrm>
            <a:off x="4754880" y="2880360"/>
            <a:ext cx="3749040" cy="457200"/>
          </a:xfrm>
          <a:prstGeom prst="rect">
            <a:avLst/>
          </a:prstGeom>
          <a:noFill/>
          <a:ln/>
        </p:spPr>
        <p:txBody>
          <a:bodyPr wrap="square" rtlCol="0" anchor="ctr"/>
          <a:lstStyle/>
          <a:p>
            <a:pPr marL="0" indent="0">
              <a:buNone/>
            </a:pPr>
            <a:r>
              <a:rPr lang="en-US" sz="1100" dirty="0">
                <a:solidFill>
                  <a:srgbClr val="1F1F1F"/>
                </a:solidFill>
              </a:rPr>
              <a:t>✓ SDG target comparison</a:t>
            </a:r>
            <a:endParaRPr lang="en-US" sz="1100" dirty="0"/>
          </a:p>
        </p:txBody>
      </p:sp>
      <p:sp>
        <p:nvSpPr>
          <p:cNvPr id="11" name="Shape 9"/>
          <p:cNvSpPr/>
          <p:nvPr/>
        </p:nvSpPr>
        <p:spPr>
          <a:xfrm>
            <a:off x="457200" y="3017520"/>
            <a:ext cx="8229600" cy="1645920"/>
          </a:xfrm>
          <a:prstGeom prst="roundRect">
            <a:avLst/>
          </a:prstGeom>
          <a:solidFill>
            <a:srgbClr val="E8F5E9"/>
          </a:solidFill>
          <a:ln w="25400">
            <a:solidFill>
              <a:srgbClr val="4CAF50"/>
            </a:solidFill>
            <a:prstDash val="solid"/>
          </a:ln>
        </p:spPr>
      </p:sp>
      <p:sp>
        <p:nvSpPr>
          <p:cNvPr id="12" name="Text 10"/>
          <p:cNvSpPr txBox="1"/>
          <p:nvPr/>
        </p:nvSpPr>
        <p:spPr>
          <a:xfrm>
            <a:off x="731520" y="3154680"/>
            <a:ext cx="7680960" cy="274320"/>
          </a:xfrm>
          <a:prstGeom prst="rect">
            <a:avLst/>
          </a:prstGeom>
          <a:noFill/>
          <a:ln/>
        </p:spPr>
        <p:txBody>
          <a:bodyPr wrap="square" rtlCol="0" anchor="ctr"/>
          <a:lstStyle/>
          <a:p>
            <a:pPr marL="0" indent="0">
              <a:buNone/>
            </a:pPr>
            <a:r>
              <a:rPr lang="en-US" sz="1200" b="1" dirty="0">
                <a:solidFill>
                  <a:srgbClr val="4CAF50"/>
                </a:solidFill>
              </a:rPr>
              <a:t>Key Findings:</a:t>
            </a:r>
            <a:endParaRPr lang="en-US" sz="1200" dirty="0"/>
          </a:p>
        </p:txBody>
      </p:sp>
      <p:sp>
        <p:nvSpPr>
          <p:cNvPr id="13" name="Text 11"/>
          <p:cNvSpPr txBox="1"/>
          <p:nvPr/>
        </p:nvSpPr>
        <p:spPr>
          <a:xfrm>
            <a:off x="731520" y="3520440"/>
            <a:ext cx="7680960" cy="1097280"/>
          </a:xfrm>
          <a:prstGeom prst="rect">
            <a:avLst/>
          </a:prstGeom>
          <a:noFill/>
          <a:ln/>
        </p:spPr>
        <p:txBody>
          <a:bodyPr wrap="square" rtlCol="0" anchor="ctr"/>
          <a:lstStyle/>
          <a:p>
            <a:pPr marL="0" indent="0">
              <a:buNone/>
            </a:pPr>
            <a:r>
              <a:rPr lang="en-US" sz="1100" dirty="0">
                <a:solidFill>
                  <a:srgbClr val="1F1F1F"/>
                </a:solidFill>
              </a:rPr>
              <a:t>The system successfully tracks maternal health progress by analyzing historical data, identifying trends, and predicting future MMR values. This enables stakeholders to monitor SDG 3.1 progress effectively and identify areas requiring targeted interventions.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Responsible AI Framework</a:t>
            </a:r>
            <a:endParaRPr lang="en-US" sz="4000" dirty="0"/>
          </a:p>
        </p:txBody>
      </p:sp>
      <p:sp>
        <p:nvSpPr>
          <p:cNvPr id="4" name="Shape 2"/>
          <p:cNvSpPr/>
          <p:nvPr/>
        </p:nvSpPr>
        <p:spPr>
          <a:xfrm>
            <a:off x="457200" y="1188720"/>
            <a:ext cx="1920240" cy="3383280"/>
          </a:xfrm>
          <a:prstGeom prst="roundRect">
            <a:avLst/>
          </a:prstGeom>
          <a:solidFill>
            <a:srgbClr val="E3F2FD"/>
          </a:solidFill>
          <a:ln w="12700">
            <a:solidFill>
              <a:srgbClr val="1F4788"/>
            </a:solidFill>
            <a:prstDash val="solid"/>
          </a:ln>
        </p:spPr>
      </p:sp>
      <p:sp>
        <p:nvSpPr>
          <p:cNvPr id="5" name="Text 3"/>
          <p:cNvSpPr txBox="1"/>
          <p:nvPr/>
        </p:nvSpPr>
        <p:spPr>
          <a:xfrm>
            <a:off x="548640" y="1371600"/>
            <a:ext cx="1737360" cy="457200"/>
          </a:xfrm>
          <a:prstGeom prst="rect">
            <a:avLst/>
          </a:prstGeom>
          <a:noFill/>
          <a:ln/>
        </p:spPr>
        <p:txBody>
          <a:bodyPr wrap="square" rtlCol="0" anchor="ctr"/>
          <a:lstStyle/>
          <a:p>
            <a:pPr marL="0" indent="0" algn="ctr">
              <a:buNone/>
            </a:pPr>
            <a:r>
              <a:rPr lang="en-US" sz="1300" b="1" dirty="0">
                <a:solidFill>
                  <a:srgbClr val="1F4788"/>
                </a:solidFill>
              </a:rPr>
              <a:t>Fairness</a:t>
            </a:r>
            <a:endParaRPr lang="en-US" sz="1300" dirty="0"/>
          </a:p>
        </p:txBody>
      </p:sp>
      <p:sp>
        <p:nvSpPr>
          <p:cNvPr id="6" name="Text 4"/>
          <p:cNvSpPr txBox="1"/>
          <p:nvPr/>
        </p:nvSpPr>
        <p:spPr>
          <a:xfrm>
            <a:off x="594360" y="1965960"/>
            <a:ext cx="1645920" cy="2468880"/>
          </a:xfrm>
          <a:prstGeom prst="rect">
            <a:avLst/>
          </a:prstGeom>
          <a:noFill/>
          <a:ln/>
        </p:spPr>
        <p:txBody>
          <a:bodyPr wrap="square" rtlCol="0" anchor="ctr"/>
          <a:lstStyle/>
          <a:p>
            <a:pPr marL="0" indent="0" algn="l">
              <a:buNone/>
            </a:pPr>
            <a:r>
              <a:rPr lang="en-US" sz="1000" dirty="0">
                <a:solidFill>
                  <a:srgbClr val="1F1F1F"/>
                </a:solidFill>
              </a:rPr>
              <a:t>Avoid biased conclusions from incomplete datasets</a:t>
            </a:r>
            <a:endParaRPr lang="en-US" sz="1000" dirty="0"/>
          </a:p>
        </p:txBody>
      </p:sp>
      <p:sp>
        <p:nvSpPr>
          <p:cNvPr id="7" name="Shape 5"/>
          <p:cNvSpPr/>
          <p:nvPr/>
        </p:nvSpPr>
        <p:spPr>
          <a:xfrm>
            <a:off x="2560320" y="1188720"/>
            <a:ext cx="1920240" cy="3383280"/>
          </a:xfrm>
          <a:prstGeom prst="roundRect">
            <a:avLst/>
          </a:prstGeom>
          <a:solidFill>
            <a:srgbClr val="F3E5F5"/>
          </a:solidFill>
          <a:ln w="12700">
            <a:solidFill>
              <a:srgbClr val="1F4788"/>
            </a:solidFill>
            <a:prstDash val="solid"/>
          </a:ln>
        </p:spPr>
      </p:sp>
      <p:sp>
        <p:nvSpPr>
          <p:cNvPr id="8" name="Text 6"/>
          <p:cNvSpPr txBox="1"/>
          <p:nvPr/>
        </p:nvSpPr>
        <p:spPr>
          <a:xfrm>
            <a:off x="2651760" y="1371600"/>
            <a:ext cx="1737360" cy="457200"/>
          </a:xfrm>
          <a:prstGeom prst="rect">
            <a:avLst/>
          </a:prstGeom>
          <a:noFill/>
          <a:ln/>
        </p:spPr>
        <p:txBody>
          <a:bodyPr wrap="square" rtlCol="0" anchor="ctr"/>
          <a:lstStyle/>
          <a:p>
            <a:pPr marL="0" indent="0" algn="ctr">
              <a:buNone/>
            </a:pPr>
            <a:r>
              <a:rPr lang="en-US" sz="1300" b="1" dirty="0">
                <a:solidFill>
                  <a:srgbClr val="1F4788"/>
                </a:solidFill>
              </a:rPr>
              <a:t>Transparency</a:t>
            </a:r>
            <a:endParaRPr lang="en-US" sz="1300" dirty="0"/>
          </a:p>
        </p:txBody>
      </p:sp>
      <p:sp>
        <p:nvSpPr>
          <p:cNvPr id="9" name="Text 7"/>
          <p:cNvSpPr txBox="1"/>
          <p:nvPr/>
        </p:nvSpPr>
        <p:spPr>
          <a:xfrm>
            <a:off x="2697480" y="1965960"/>
            <a:ext cx="1645920" cy="2468880"/>
          </a:xfrm>
          <a:prstGeom prst="rect">
            <a:avLst/>
          </a:prstGeom>
          <a:noFill/>
          <a:ln/>
        </p:spPr>
        <p:txBody>
          <a:bodyPr wrap="square" rtlCol="0" anchor="ctr"/>
          <a:lstStyle/>
          <a:p>
            <a:pPr marL="0" indent="0" algn="l">
              <a:buNone/>
            </a:pPr>
            <a:r>
              <a:rPr lang="en-US" sz="1000" dirty="0">
                <a:solidFill>
                  <a:srgbClr val="1F1F1F"/>
                </a:solidFill>
              </a:rPr>
              <a:t>Clear explanation of Linear Regression predictions</a:t>
            </a:r>
            <a:endParaRPr lang="en-US" sz="1000" dirty="0"/>
          </a:p>
        </p:txBody>
      </p:sp>
      <p:sp>
        <p:nvSpPr>
          <p:cNvPr id="10" name="Shape 8"/>
          <p:cNvSpPr/>
          <p:nvPr/>
        </p:nvSpPr>
        <p:spPr>
          <a:xfrm>
            <a:off x="4663440" y="1188720"/>
            <a:ext cx="1920240" cy="3383280"/>
          </a:xfrm>
          <a:prstGeom prst="roundRect">
            <a:avLst/>
          </a:prstGeom>
          <a:solidFill>
            <a:srgbClr val="E8F5E9"/>
          </a:solidFill>
          <a:ln w="12700">
            <a:solidFill>
              <a:srgbClr val="1F4788"/>
            </a:solidFill>
            <a:prstDash val="solid"/>
          </a:ln>
        </p:spPr>
      </p:sp>
      <p:sp>
        <p:nvSpPr>
          <p:cNvPr id="11" name="Text 9"/>
          <p:cNvSpPr txBox="1"/>
          <p:nvPr/>
        </p:nvSpPr>
        <p:spPr>
          <a:xfrm>
            <a:off x="4754880" y="1371600"/>
            <a:ext cx="1737360" cy="457200"/>
          </a:xfrm>
          <a:prstGeom prst="rect">
            <a:avLst/>
          </a:prstGeom>
          <a:noFill/>
          <a:ln/>
        </p:spPr>
        <p:txBody>
          <a:bodyPr wrap="square" rtlCol="0" anchor="ctr"/>
          <a:lstStyle/>
          <a:p>
            <a:pPr marL="0" indent="0" algn="ctr">
              <a:buNone/>
            </a:pPr>
            <a:r>
              <a:rPr lang="en-US" sz="1300" b="1" dirty="0">
                <a:solidFill>
                  <a:srgbClr val="1F4788"/>
                </a:solidFill>
              </a:rPr>
              <a:t>Ethics</a:t>
            </a:r>
            <a:endParaRPr lang="en-US" sz="1300" dirty="0"/>
          </a:p>
        </p:txBody>
      </p:sp>
      <p:sp>
        <p:nvSpPr>
          <p:cNvPr id="12" name="Text 10"/>
          <p:cNvSpPr txBox="1"/>
          <p:nvPr/>
        </p:nvSpPr>
        <p:spPr>
          <a:xfrm>
            <a:off x="4800600" y="1965960"/>
            <a:ext cx="1645920" cy="2468880"/>
          </a:xfrm>
          <a:prstGeom prst="rect">
            <a:avLst/>
          </a:prstGeom>
          <a:noFill/>
          <a:ln/>
        </p:spPr>
        <p:txBody>
          <a:bodyPr wrap="square" rtlCol="0" anchor="ctr"/>
          <a:lstStyle/>
          <a:p>
            <a:pPr marL="0" indent="0" algn="l">
              <a:buNone/>
            </a:pPr>
            <a:r>
              <a:rPr lang="en-US" sz="1000" dirty="0">
                <a:solidFill>
                  <a:srgbClr val="1F1F1F"/>
                </a:solidFill>
              </a:rPr>
              <a:t>Predictions are analytical estimates, not medical decisions</a:t>
            </a:r>
            <a:endParaRPr lang="en-US" sz="1000" dirty="0"/>
          </a:p>
        </p:txBody>
      </p:sp>
      <p:sp>
        <p:nvSpPr>
          <p:cNvPr id="13" name="Shape 11"/>
          <p:cNvSpPr/>
          <p:nvPr/>
        </p:nvSpPr>
        <p:spPr>
          <a:xfrm>
            <a:off x="6766560" y="1188720"/>
            <a:ext cx="1920240" cy="3383280"/>
          </a:xfrm>
          <a:prstGeom prst="roundRect">
            <a:avLst/>
          </a:prstGeom>
          <a:solidFill>
            <a:srgbClr val="FFF3E0"/>
          </a:solidFill>
          <a:ln w="12700">
            <a:solidFill>
              <a:srgbClr val="1F4788"/>
            </a:solidFill>
            <a:prstDash val="solid"/>
          </a:ln>
        </p:spPr>
      </p:sp>
      <p:sp>
        <p:nvSpPr>
          <p:cNvPr id="14" name="Text 12"/>
          <p:cNvSpPr txBox="1"/>
          <p:nvPr/>
        </p:nvSpPr>
        <p:spPr>
          <a:xfrm>
            <a:off x="6858000" y="1371600"/>
            <a:ext cx="1737360" cy="457200"/>
          </a:xfrm>
          <a:prstGeom prst="rect">
            <a:avLst/>
          </a:prstGeom>
          <a:noFill/>
          <a:ln/>
        </p:spPr>
        <p:txBody>
          <a:bodyPr wrap="square" rtlCol="0" anchor="ctr"/>
          <a:lstStyle/>
          <a:p>
            <a:pPr marL="0" indent="0" algn="ctr">
              <a:buNone/>
            </a:pPr>
            <a:r>
              <a:rPr lang="en-US" sz="1300" b="1" dirty="0">
                <a:solidFill>
                  <a:srgbClr val="1F4788"/>
                </a:solidFill>
              </a:rPr>
              <a:t>Privacy</a:t>
            </a:r>
            <a:endParaRPr lang="en-US" sz="1300" dirty="0"/>
          </a:p>
        </p:txBody>
      </p:sp>
      <p:sp>
        <p:nvSpPr>
          <p:cNvPr id="15" name="Text 13"/>
          <p:cNvSpPr txBox="1"/>
          <p:nvPr/>
        </p:nvSpPr>
        <p:spPr>
          <a:xfrm>
            <a:off x="6903720" y="1965960"/>
            <a:ext cx="1645920" cy="2468880"/>
          </a:xfrm>
          <a:prstGeom prst="rect">
            <a:avLst/>
          </a:prstGeom>
          <a:noFill/>
          <a:ln/>
        </p:spPr>
        <p:txBody>
          <a:bodyPr wrap="square" rtlCol="0" anchor="ctr"/>
          <a:lstStyle/>
          <a:p>
            <a:pPr marL="0" indent="0" algn="l">
              <a:buNone/>
            </a:pPr>
            <a:r>
              <a:rPr lang="en-US" sz="1000" dirty="0">
                <a:solidFill>
                  <a:srgbClr val="1F1F1F"/>
                </a:solidFill>
              </a:rPr>
              <a:t>Using aggregated/public data, no personal health information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Expected Impact</a:t>
            </a:r>
            <a:endParaRPr lang="en-US" sz="4000" dirty="0"/>
          </a:p>
        </p:txBody>
      </p:sp>
      <p:sp>
        <p:nvSpPr>
          <p:cNvPr id="4" name="Shape 2"/>
          <p:cNvSpPr/>
          <p:nvPr/>
        </p:nvSpPr>
        <p:spPr>
          <a:xfrm>
            <a:off x="232117" y="1097280"/>
            <a:ext cx="4206240" cy="1645920"/>
          </a:xfrm>
          <a:prstGeom prst="roundRect">
            <a:avLst/>
          </a:prstGeom>
          <a:solidFill>
            <a:srgbClr val="F5F5F5"/>
          </a:solidFill>
          <a:ln w="12700">
            <a:solidFill>
              <a:srgbClr val="1F4788"/>
            </a:solidFill>
            <a:prstDash val="solid"/>
          </a:ln>
        </p:spPr>
        <p:txBody>
          <a:bodyPr/>
          <a:lstStyle/>
          <a:p>
            <a:endParaRPr lang="en-IN" dirty="0"/>
          </a:p>
        </p:txBody>
      </p:sp>
      <p:sp>
        <p:nvSpPr>
          <p:cNvPr id="5" name="Text 3"/>
          <p:cNvSpPr txBox="1"/>
          <p:nvPr/>
        </p:nvSpPr>
        <p:spPr>
          <a:xfrm>
            <a:off x="640080" y="1188720"/>
            <a:ext cx="3840480" cy="274320"/>
          </a:xfrm>
          <a:prstGeom prst="rect">
            <a:avLst/>
          </a:prstGeom>
          <a:noFill/>
          <a:ln/>
        </p:spPr>
        <p:txBody>
          <a:bodyPr wrap="square" rtlCol="0" anchor="ctr"/>
          <a:lstStyle/>
          <a:p>
            <a:pPr marL="0" indent="0">
              <a:buNone/>
            </a:pPr>
            <a:r>
              <a:rPr lang="en-US" sz="1200" b="1" dirty="0">
                <a:solidFill>
                  <a:srgbClr val="1F4788"/>
                </a:solidFill>
              </a:rPr>
              <a:t>📊 Social Impact</a:t>
            </a:r>
            <a:endParaRPr lang="en-US" sz="1200" dirty="0"/>
          </a:p>
        </p:txBody>
      </p:sp>
      <p:sp>
        <p:nvSpPr>
          <p:cNvPr id="6" name="Text 4"/>
          <p:cNvSpPr txBox="1"/>
          <p:nvPr/>
        </p:nvSpPr>
        <p:spPr>
          <a:xfrm>
            <a:off x="731520" y="1554480"/>
            <a:ext cx="3657600" cy="274320"/>
          </a:xfrm>
          <a:prstGeom prst="rect">
            <a:avLst/>
          </a:prstGeom>
          <a:noFill/>
          <a:ln/>
        </p:spPr>
        <p:txBody>
          <a:bodyPr wrap="square" rtlCol="0" anchor="ctr"/>
          <a:lstStyle/>
          <a:p>
            <a:pPr marL="0" indent="0">
              <a:buNone/>
            </a:pPr>
            <a:r>
              <a:rPr lang="en-US" sz="1000" dirty="0">
                <a:solidFill>
                  <a:srgbClr val="1F1F1F"/>
                </a:solidFill>
              </a:rPr>
              <a:t>• Better MMR trend understanding</a:t>
            </a:r>
            <a:endParaRPr lang="en-US" sz="1000" dirty="0"/>
          </a:p>
        </p:txBody>
      </p:sp>
      <p:sp>
        <p:nvSpPr>
          <p:cNvPr id="7" name="Text 5"/>
          <p:cNvSpPr txBox="1"/>
          <p:nvPr/>
        </p:nvSpPr>
        <p:spPr>
          <a:xfrm>
            <a:off x="731520" y="1874520"/>
            <a:ext cx="3657600" cy="274320"/>
          </a:xfrm>
          <a:prstGeom prst="rect">
            <a:avLst/>
          </a:prstGeom>
          <a:noFill/>
          <a:ln/>
        </p:spPr>
        <p:txBody>
          <a:bodyPr wrap="square" rtlCol="0" anchor="ctr"/>
          <a:lstStyle/>
          <a:p>
            <a:pPr marL="0" indent="0">
              <a:buNone/>
            </a:pPr>
            <a:r>
              <a:rPr lang="en-US" sz="1000" dirty="0">
                <a:solidFill>
                  <a:srgbClr val="1F1F1F"/>
                </a:solidFill>
              </a:rPr>
              <a:t>• Easier SDG progress monitoring</a:t>
            </a:r>
            <a:endParaRPr lang="en-US" sz="1000" dirty="0"/>
          </a:p>
        </p:txBody>
      </p:sp>
      <p:sp>
        <p:nvSpPr>
          <p:cNvPr id="8" name="Shape 6"/>
          <p:cNvSpPr/>
          <p:nvPr/>
        </p:nvSpPr>
        <p:spPr>
          <a:xfrm>
            <a:off x="4790049" y="1097280"/>
            <a:ext cx="4206240" cy="1645920"/>
          </a:xfrm>
          <a:prstGeom prst="roundRect">
            <a:avLst/>
          </a:prstGeom>
          <a:solidFill>
            <a:srgbClr val="F5F5F5"/>
          </a:solidFill>
          <a:ln w="12700">
            <a:solidFill>
              <a:srgbClr val="1F4788"/>
            </a:solidFill>
            <a:prstDash val="solid"/>
          </a:ln>
        </p:spPr>
      </p:sp>
      <p:sp>
        <p:nvSpPr>
          <p:cNvPr id="9" name="Text 7"/>
          <p:cNvSpPr txBox="1"/>
          <p:nvPr/>
        </p:nvSpPr>
        <p:spPr>
          <a:xfrm>
            <a:off x="5120640" y="1188720"/>
            <a:ext cx="3840480" cy="274320"/>
          </a:xfrm>
          <a:prstGeom prst="rect">
            <a:avLst/>
          </a:prstGeom>
          <a:noFill/>
          <a:ln/>
        </p:spPr>
        <p:txBody>
          <a:bodyPr wrap="square" rtlCol="0" anchor="ctr"/>
          <a:lstStyle/>
          <a:p>
            <a:pPr marL="0" indent="0">
              <a:buNone/>
            </a:pPr>
            <a:r>
              <a:rPr lang="en-US" sz="1200" b="1" dirty="0">
                <a:solidFill>
                  <a:srgbClr val="1F4788"/>
                </a:solidFill>
              </a:rPr>
              <a:t>🎯 Decision Support</a:t>
            </a:r>
            <a:endParaRPr lang="en-US" sz="1200" dirty="0"/>
          </a:p>
        </p:txBody>
      </p:sp>
      <p:sp>
        <p:nvSpPr>
          <p:cNvPr id="10" name="Text 8"/>
          <p:cNvSpPr txBox="1"/>
          <p:nvPr/>
        </p:nvSpPr>
        <p:spPr>
          <a:xfrm>
            <a:off x="5212080" y="1554480"/>
            <a:ext cx="3657600" cy="274320"/>
          </a:xfrm>
          <a:prstGeom prst="rect">
            <a:avLst/>
          </a:prstGeom>
          <a:noFill/>
          <a:ln/>
        </p:spPr>
        <p:txBody>
          <a:bodyPr wrap="square" rtlCol="0" anchor="ctr"/>
          <a:lstStyle/>
          <a:p>
            <a:pPr marL="0" indent="0">
              <a:buNone/>
            </a:pPr>
            <a:r>
              <a:rPr lang="en-US" sz="1000" dirty="0">
                <a:solidFill>
                  <a:srgbClr val="1F1F1F"/>
                </a:solidFill>
              </a:rPr>
              <a:t>• Identify high-need areas</a:t>
            </a:r>
            <a:endParaRPr lang="en-US" sz="1000" dirty="0"/>
          </a:p>
        </p:txBody>
      </p:sp>
      <p:sp>
        <p:nvSpPr>
          <p:cNvPr id="11" name="Text 9"/>
          <p:cNvSpPr txBox="1"/>
          <p:nvPr/>
        </p:nvSpPr>
        <p:spPr>
          <a:xfrm>
            <a:off x="5212080" y="1874520"/>
            <a:ext cx="3657600" cy="274320"/>
          </a:xfrm>
          <a:prstGeom prst="rect">
            <a:avLst/>
          </a:prstGeom>
          <a:noFill/>
          <a:ln/>
        </p:spPr>
        <p:txBody>
          <a:bodyPr wrap="square" rtlCol="0" anchor="ctr"/>
          <a:lstStyle/>
          <a:p>
            <a:pPr marL="0" indent="0">
              <a:buNone/>
            </a:pPr>
            <a:r>
              <a:rPr lang="en-US" sz="1000" dirty="0">
                <a:solidFill>
                  <a:srgbClr val="1F1F1F"/>
                </a:solidFill>
              </a:rPr>
              <a:t>• Guide resource allocation</a:t>
            </a:r>
            <a:endParaRPr lang="en-US" sz="1000" dirty="0"/>
          </a:p>
        </p:txBody>
      </p:sp>
      <p:sp>
        <p:nvSpPr>
          <p:cNvPr id="12" name="Shape 10"/>
          <p:cNvSpPr/>
          <p:nvPr/>
        </p:nvSpPr>
        <p:spPr>
          <a:xfrm>
            <a:off x="274320" y="2926080"/>
            <a:ext cx="4206240" cy="1645920"/>
          </a:xfrm>
          <a:prstGeom prst="roundRect">
            <a:avLst/>
          </a:prstGeom>
          <a:solidFill>
            <a:srgbClr val="F5F5F5"/>
          </a:solidFill>
          <a:ln w="12700">
            <a:solidFill>
              <a:srgbClr val="1F4788"/>
            </a:solidFill>
            <a:prstDash val="solid"/>
          </a:ln>
        </p:spPr>
        <p:txBody>
          <a:bodyPr/>
          <a:lstStyle/>
          <a:p>
            <a:endParaRPr lang="en-IN" dirty="0"/>
          </a:p>
        </p:txBody>
      </p:sp>
      <p:sp>
        <p:nvSpPr>
          <p:cNvPr id="13" name="Text 11"/>
          <p:cNvSpPr txBox="1"/>
          <p:nvPr/>
        </p:nvSpPr>
        <p:spPr>
          <a:xfrm>
            <a:off x="640080" y="3017520"/>
            <a:ext cx="3840480" cy="274320"/>
          </a:xfrm>
          <a:prstGeom prst="rect">
            <a:avLst/>
          </a:prstGeom>
          <a:noFill/>
          <a:ln/>
        </p:spPr>
        <p:txBody>
          <a:bodyPr wrap="square" rtlCol="0" anchor="ctr"/>
          <a:lstStyle/>
          <a:p>
            <a:pPr marL="0" indent="0">
              <a:buNone/>
            </a:pPr>
            <a:r>
              <a:rPr lang="en-US" sz="1200" b="1" dirty="0">
                <a:solidFill>
                  <a:srgbClr val="1F4788"/>
                </a:solidFill>
              </a:rPr>
              <a:t>🎓 Educational Impact</a:t>
            </a:r>
            <a:endParaRPr lang="en-US" sz="1200" dirty="0"/>
          </a:p>
        </p:txBody>
      </p:sp>
      <p:sp>
        <p:nvSpPr>
          <p:cNvPr id="14" name="Text 12"/>
          <p:cNvSpPr txBox="1"/>
          <p:nvPr/>
        </p:nvSpPr>
        <p:spPr>
          <a:xfrm>
            <a:off x="731520" y="3383280"/>
            <a:ext cx="3657600" cy="274320"/>
          </a:xfrm>
          <a:prstGeom prst="rect">
            <a:avLst/>
          </a:prstGeom>
          <a:noFill/>
          <a:ln/>
        </p:spPr>
        <p:txBody>
          <a:bodyPr wrap="square" rtlCol="0" anchor="ctr"/>
          <a:lstStyle/>
          <a:p>
            <a:pPr marL="0" indent="0">
              <a:buNone/>
            </a:pPr>
            <a:r>
              <a:rPr lang="en-US" sz="1000" dirty="0">
                <a:solidFill>
                  <a:srgbClr val="1F1F1F"/>
                </a:solidFill>
              </a:rPr>
              <a:t>• Practical AI application</a:t>
            </a:r>
            <a:endParaRPr lang="en-US" sz="1000" dirty="0"/>
          </a:p>
        </p:txBody>
      </p:sp>
      <p:sp>
        <p:nvSpPr>
          <p:cNvPr id="15" name="Text 13"/>
          <p:cNvSpPr txBox="1"/>
          <p:nvPr/>
        </p:nvSpPr>
        <p:spPr>
          <a:xfrm>
            <a:off x="731520" y="3703320"/>
            <a:ext cx="3657600" cy="274320"/>
          </a:xfrm>
          <a:prstGeom prst="rect">
            <a:avLst/>
          </a:prstGeom>
          <a:noFill/>
          <a:ln/>
        </p:spPr>
        <p:txBody>
          <a:bodyPr wrap="square" rtlCol="0" anchor="ctr"/>
          <a:lstStyle/>
          <a:p>
            <a:pPr marL="0" indent="0">
              <a:buNone/>
            </a:pPr>
            <a:r>
              <a:rPr lang="en-US" sz="1000" dirty="0">
                <a:solidFill>
                  <a:srgbClr val="1F1F1F"/>
                </a:solidFill>
              </a:rPr>
              <a:t>• Sustainability demonstration</a:t>
            </a:r>
            <a:endParaRPr lang="en-US" sz="1000" dirty="0"/>
          </a:p>
        </p:txBody>
      </p:sp>
      <p:sp>
        <p:nvSpPr>
          <p:cNvPr id="16" name="Shape 14"/>
          <p:cNvSpPr/>
          <p:nvPr/>
        </p:nvSpPr>
        <p:spPr>
          <a:xfrm>
            <a:off x="4790049" y="2880360"/>
            <a:ext cx="4206240" cy="1645920"/>
          </a:xfrm>
          <a:prstGeom prst="roundRect">
            <a:avLst/>
          </a:prstGeom>
          <a:solidFill>
            <a:srgbClr val="F5F5F5"/>
          </a:solidFill>
          <a:ln w="12700">
            <a:solidFill>
              <a:srgbClr val="1F4788"/>
            </a:solidFill>
            <a:prstDash val="solid"/>
          </a:ln>
        </p:spPr>
        <p:txBody>
          <a:bodyPr/>
          <a:lstStyle/>
          <a:p>
            <a:endParaRPr lang="en-IN" dirty="0"/>
          </a:p>
        </p:txBody>
      </p:sp>
      <p:sp>
        <p:nvSpPr>
          <p:cNvPr id="17" name="Text 15"/>
          <p:cNvSpPr txBox="1"/>
          <p:nvPr/>
        </p:nvSpPr>
        <p:spPr>
          <a:xfrm>
            <a:off x="5120640" y="3017520"/>
            <a:ext cx="3840480" cy="274320"/>
          </a:xfrm>
          <a:prstGeom prst="rect">
            <a:avLst/>
          </a:prstGeom>
          <a:noFill/>
          <a:ln/>
        </p:spPr>
        <p:txBody>
          <a:bodyPr wrap="square" rtlCol="0" anchor="ctr"/>
          <a:lstStyle/>
          <a:p>
            <a:pPr marL="0" indent="0">
              <a:buNone/>
            </a:pPr>
            <a:r>
              <a:rPr lang="en-US" sz="1200" b="1" dirty="0">
                <a:solidFill>
                  <a:srgbClr val="1F4788"/>
                </a:solidFill>
              </a:rPr>
              <a:t>📈 Scalability</a:t>
            </a:r>
            <a:endParaRPr lang="en-US" sz="1200" dirty="0"/>
          </a:p>
        </p:txBody>
      </p:sp>
      <p:sp>
        <p:nvSpPr>
          <p:cNvPr id="18" name="Text 16"/>
          <p:cNvSpPr txBox="1"/>
          <p:nvPr/>
        </p:nvSpPr>
        <p:spPr>
          <a:xfrm>
            <a:off x="5212080" y="3383280"/>
            <a:ext cx="3657600" cy="274320"/>
          </a:xfrm>
          <a:prstGeom prst="rect">
            <a:avLst/>
          </a:prstGeom>
          <a:noFill/>
          <a:ln/>
        </p:spPr>
        <p:txBody>
          <a:bodyPr wrap="square" rtlCol="0" anchor="ctr"/>
          <a:lstStyle/>
          <a:p>
            <a:pPr marL="0" indent="0">
              <a:buNone/>
            </a:pPr>
            <a:r>
              <a:rPr lang="en-US" sz="1000" dirty="0">
                <a:solidFill>
                  <a:srgbClr val="1F1F1F"/>
                </a:solidFill>
              </a:rPr>
              <a:t>• Extend with more indicators</a:t>
            </a:r>
            <a:endParaRPr lang="en-US" sz="1000" dirty="0"/>
          </a:p>
        </p:txBody>
      </p:sp>
      <p:sp>
        <p:nvSpPr>
          <p:cNvPr id="19" name="Text 17"/>
          <p:cNvSpPr txBox="1"/>
          <p:nvPr/>
        </p:nvSpPr>
        <p:spPr>
          <a:xfrm>
            <a:off x="5212080" y="3703320"/>
            <a:ext cx="3657600" cy="274320"/>
          </a:xfrm>
          <a:prstGeom prst="rect">
            <a:avLst/>
          </a:prstGeom>
          <a:noFill/>
          <a:ln/>
        </p:spPr>
        <p:txBody>
          <a:bodyPr wrap="square" rtlCol="0" anchor="ctr"/>
          <a:lstStyle/>
          <a:p>
            <a:pPr marL="0" indent="0">
              <a:buNone/>
            </a:pPr>
            <a:r>
              <a:rPr lang="en-US" sz="1000" dirty="0">
                <a:solidFill>
                  <a:srgbClr val="1F1F1F"/>
                </a:solidFill>
              </a:rPr>
              <a:t>• Add international datasets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txBox="1"/>
          <p:nvPr/>
        </p:nvSpPr>
        <p:spPr>
          <a:xfrm>
            <a:off x="457200" y="137160"/>
            <a:ext cx="8229600" cy="457200"/>
          </a:xfrm>
          <a:prstGeom prst="rect">
            <a:avLst/>
          </a:prstGeom>
          <a:noFill/>
          <a:ln/>
        </p:spPr>
        <p:txBody>
          <a:bodyPr wrap="square" rtlCol="0" anchor="ctr"/>
          <a:lstStyle/>
          <a:p>
            <a:pPr marL="0" indent="0" algn="l">
              <a:buNone/>
            </a:pPr>
            <a:r>
              <a:rPr lang="en-US" sz="4000" b="1" dirty="0">
                <a:solidFill>
                  <a:srgbClr val="FFFFFF"/>
                </a:solidFill>
              </a:rPr>
              <a:t>Limitations &amp; Future Scope</a:t>
            </a:r>
            <a:endParaRPr lang="en-US" sz="4000" dirty="0"/>
          </a:p>
        </p:txBody>
      </p:sp>
      <p:sp>
        <p:nvSpPr>
          <p:cNvPr id="4" name="Text 2"/>
          <p:cNvSpPr txBox="1"/>
          <p:nvPr/>
        </p:nvSpPr>
        <p:spPr>
          <a:xfrm>
            <a:off x="457200" y="1097280"/>
            <a:ext cx="4114800" cy="274320"/>
          </a:xfrm>
          <a:prstGeom prst="rect">
            <a:avLst/>
          </a:prstGeom>
          <a:noFill/>
          <a:ln/>
        </p:spPr>
        <p:txBody>
          <a:bodyPr wrap="square" rtlCol="0" anchor="ctr"/>
          <a:lstStyle/>
          <a:p>
            <a:pPr marL="0" indent="0">
              <a:buNone/>
            </a:pPr>
            <a:r>
              <a:rPr lang="en-US" sz="1200" b="1" dirty="0">
                <a:solidFill>
                  <a:srgbClr val="F44336"/>
                </a:solidFill>
              </a:rPr>
              <a:t>Current Limitations:</a:t>
            </a:r>
            <a:endParaRPr lang="en-US" sz="1200" dirty="0"/>
          </a:p>
        </p:txBody>
      </p:sp>
      <p:sp>
        <p:nvSpPr>
          <p:cNvPr id="5" name="Text 3"/>
          <p:cNvSpPr txBox="1"/>
          <p:nvPr/>
        </p:nvSpPr>
        <p:spPr>
          <a:xfrm>
            <a:off x="640080" y="1508760"/>
            <a:ext cx="3749040" cy="274320"/>
          </a:xfrm>
          <a:prstGeom prst="rect">
            <a:avLst/>
          </a:prstGeom>
          <a:noFill/>
          <a:ln/>
        </p:spPr>
        <p:txBody>
          <a:bodyPr wrap="square" rtlCol="0" anchor="ctr"/>
          <a:lstStyle/>
          <a:p>
            <a:pPr marL="0" indent="0">
              <a:buNone/>
            </a:pPr>
            <a:r>
              <a:rPr lang="en-US" sz="1000" dirty="0">
                <a:solidFill>
                  <a:srgbClr val="1F1F1F"/>
                </a:solidFill>
              </a:rPr>
              <a:t>• Prediction depends on historical data</a:t>
            </a:r>
            <a:endParaRPr lang="en-US" sz="1000" dirty="0"/>
          </a:p>
        </p:txBody>
      </p:sp>
      <p:sp>
        <p:nvSpPr>
          <p:cNvPr id="6" name="Text 4"/>
          <p:cNvSpPr txBox="1"/>
          <p:nvPr/>
        </p:nvSpPr>
        <p:spPr>
          <a:xfrm>
            <a:off x="640080" y="1828800"/>
            <a:ext cx="3749040" cy="274320"/>
          </a:xfrm>
          <a:prstGeom prst="rect">
            <a:avLst/>
          </a:prstGeom>
          <a:noFill/>
          <a:ln/>
        </p:spPr>
        <p:txBody>
          <a:bodyPr wrap="square" rtlCol="0" anchor="ctr"/>
          <a:lstStyle/>
          <a:p>
            <a:pPr marL="0" indent="0">
              <a:buNone/>
            </a:pPr>
            <a:r>
              <a:rPr lang="en-US" sz="1000" dirty="0">
                <a:solidFill>
                  <a:srgbClr val="1F1F1F"/>
                </a:solidFill>
              </a:rPr>
              <a:t>• Linear Regression has limitations</a:t>
            </a:r>
            <a:endParaRPr lang="en-US" sz="1000" dirty="0"/>
          </a:p>
        </p:txBody>
      </p:sp>
      <p:sp>
        <p:nvSpPr>
          <p:cNvPr id="7" name="Text 5"/>
          <p:cNvSpPr txBox="1"/>
          <p:nvPr/>
        </p:nvSpPr>
        <p:spPr>
          <a:xfrm>
            <a:off x="640080" y="2148840"/>
            <a:ext cx="3749040" cy="274320"/>
          </a:xfrm>
          <a:prstGeom prst="rect">
            <a:avLst/>
          </a:prstGeom>
          <a:noFill/>
          <a:ln/>
        </p:spPr>
        <p:txBody>
          <a:bodyPr wrap="square" rtlCol="0" anchor="ctr"/>
          <a:lstStyle/>
          <a:p>
            <a:pPr marL="0" indent="0">
              <a:buNone/>
            </a:pPr>
            <a:r>
              <a:rPr lang="en-US" sz="1000" dirty="0">
                <a:solidFill>
                  <a:srgbClr val="1F1F1F"/>
                </a:solidFill>
              </a:rPr>
              <a:t>• Dataset coverage varies</a:t>
            </a:r>
            <a:endParaRPr lang="en-US" sz="1000" dirty="0"/>
          </a:p>
        </p:txBody>
      </p:sp>
      <p:sp>
        <p:nvSpPr>
          <p:cNvPr id="8" name="Text 6"/>
          <p:cNvSpPr txBox="1"/>
          <p:nvPr/>
        </p:nvSpPr>
        <p:spPr>
          <a:xfrm>
            <a:off x="640080" y="2468880"/>
            <a:ext cx="3749040" cy="274320"/>
          </a:xfrm>
          <a:prstGeom prst="rect">
            <a:avLst/>
          </a:prstGeom>
          <a:noFill/>
          <a:ln/>
        </p:spPr>
        <p:txBody>
          <a:bodyPr wrap="square" rtlCol="0" anchor="ctr"/>
          <a:lstStyle/>
          <a:p>
            <a:pPr marL="0" indent="0">
              <a:buNone/>
            </a:pPr>
            <a:r>
              <a:rPr lang="en-US" sz="1000" dirty="0">
                <a:solidFill>
                  <a:srgbClr val="1F1F1F"/>
                </a:solidFill>
              </a:rPr>
              <a:t>• Not official forecasts</a:t>
            </a:r>
            <a:endParaRPr lang="en-US" sz="1000" dirty="0"/>
          </a:p>
        </p:txBody>
      </p:sp>
      <p:sp>
        <p:nvSpPr>
          <p:cNvPr id="9" name="Text 7"/>
          <p:cNvSpPr txBox="1"/>
          <p:nvPr/>
        </p:nvSpPr>
        <p:spPr>
          <a:xfrm>
            <a:off x="4754880" y="1097280"/>
            <a:ext cx="3931920" cy="274320"/>
          </a:xfrm>
          <a:prstGeom prst="rect">
            <a:avLst/>
          </a:prstGeom>
          <a:noFill/>
          <a:ln/>
        </p:spPr>
        <p:txBody>
          <a:bodyPr wrap="square" rtlCol="0" anchor="ctr"/>
          <a:lstStyle/>
          <a:p>
            <a:pPr marL="0" indent="0">
              <a:buNone/>
            </a:pPr>
            <a:r>
              <a:rPr lang="en-US" sz="1200" b="1" dirty="0">
                <a:solidFill>
                  <a:srgbClr val="4CAF50"/>
                </a:solidFill>
              </a:rPr>
              <a:t>Future Scope:</a:t>
            </a:r>
            <a:endParaRPr lang="en-US" sz="1200" dirty="0"/>
          </a:p>
        </p:txBody>
      </p:sp>
      <p:sp>
        <p:nvSpPr>
          <p:cNvPr id="10" name="Text 8"/>
          <p:cNvSpPr txBox="1"/>
          <p:nvPr/>
        </p:nvSpPr>
        <p:spPr>
          <a:xfrm>
            <a:off x="4937760" y="1508760"/>
            <a:ext cx="3749040" cy="274320"/>
          </a:xfrm>
          <a:prstGeom prst="rect">
            <a:avLst/>
          </a:prstGeom>
          <a:noFill/>
          <a:ln/>
        </p:spPr>
        <p:txBody>
          <a:bodyPr wrap="square" rtlCol="0" anchor="ctr"/>
          <a:lstStyle/>
          <a:p>
            <a:pPr marL="0" indent="0">
              <a:buNone/>
            </a:pPr>
            <a:r>
              <a:rPr lang="en-US" sz="1000" dirty="0">
                <a:solidFill>
                  <a:srgbClr val="1F1F1F"/>
                </a:solidFill>
              </a:rPr>
              <a:t>• Additional health indicators</a:t>
            </a:r>
            <a:endParaRPr lang="en-US" sz="1000" dirty="0"/>
          </a:p>
        </p:txBody>
      </p:sp>
      <p:sp>
        <p:nvSpPr>
          <p:cNvPr id="11" name="Text 9"/>
          <p:cNvSpPr txBox="1"/>
          <p:nvPr/>
        </p:nvSpPr>
        <p:spPr>
          <a:xfrm>
            <a:off x="4937760" y="1828800"/>
            <a:ext cx="3749040" cy="274320"/>
          </a:xfrm>
          <a:prstGeom prst="rect">
            <a:avLst/>
          </a:prstGeom>
          <a:noFill/>
          <a:ln/>
        </p:spPr>
        <p:txBody>
          <a:bodyPr wrap="square" rtlCol="0" anchor="ctr"/>
          <a:lstStyle/>
          <a:p>
            <a:pPr marL="0" indent="0">
              <a:buNone/>
            </a:pPr>
            <a:r>
              <a:rPr lang="en-US" sz="1000" dirty="0">
                <a:solidFill>
                  <a:srgbClr val="1F1F1F"/>
                </a:solidFill>
              </a:rPr>
              <a:t>• Advanced ML models (RF, XGBoost)</a:t>
            </a:r>
            <a:endParaRPr lang="en-US" sz="1000" dirty="0"/>
          </a:p>
        </p:txBody>
      </p:sp>
      <p:sp>
        <p:nvSpPr>
          <p:cNvPr id="12" name="Text 10"/>
          <p:cNvSpPr txBox="1"/>
          <p:nvPr/>
        </p:nvSpPr>
        <p:spPr>
          <a:xfrm>
            <a:off x="4937760" y="2148840"/>
            <a:ext cx="3749040" cy="274320"/>
          </a:xfrm>
          <a:prstGeom prst="rect">
            <a:avLst/>
          </a:prstGeom>
          <a:noFill/>
          <a:ln/>
        </p:spPr>
        <p:txBody>
          <a:bodyPr wrap="square" rtlCol="0" anchor="ctr"/>
          <a:lstStyle/>
          <a:p>
            <a:pPr marL="0" indent="0">
              <a:buNone/>
            </a:pPr>
            <a:r>
              <a:rPr lang="en-US" sz="1000" dirty="0">
                <a:solidFill>
                  <a:srgbClr val="1F1F1F"/>
                </a:solidFill>
              </a:rPr>
              <a:t>• International datasets</a:t>
            </a:r>
            <a:endParaRPr lang="en-US" sz="1000" dirty="0"/>
          </a:p>
        </p:txBody>
      </p:sp>
      <p:sp>
        <p:nvSpPr>
          <p:cNvPr id="13" name="Text 11"/>
          <p:cNvSpPr txBox="1"/>
          <p:nvPr/>
        </p:nvSpPr>
        <p:spPr>
          <a:xfrm>
            <a:off x="4937760" y="2468880"/>
            <a:ext cx="3749040" cy="274320"/>
          </a:xfrm>
          <a:prstGeom prst="rect">
            <a:avLst/>
          </a:prstGeom>
          <a:noFill/>
          <a:ln/>
        </p:spPr>
        <p:txBody>
          <a:bodyPr wrap="square" rtlCol="0" anchor="ctr"/>
          <a:lstStyle/>
          <a:p>
            <a:pPr marL="0" indent="0">
              <a:buNone/>
            </a:pPr>
            <a:r>
              <a:rPr lang="en-US" sz="1000" dirty="0">
                <a:solidFill>
                  <a:srgbClr val="1F1F1F"/>
                </a:solidFill>
              </a:rPr>
              <a:t>• Geographic visualization</a:t>
            </a:r>
            <a:endParaRPr lang="en-US" sz="1000" dirty="0"/>
          </a:p>
        </p:txBody>
      </p:sp>
      <p:sp>
        <p:nvSpPr>
          <p:cNvPr id="14" name="Text 12"/>
          <p:cNvSpPr txBox="1"/>
          <p:nvPr/>
        </p:nvSpPr>
        <p:spPr>
          <a:xfrm>
            <a:off x="457200" y="2468880"/>
            <a:ext cx="8229600" cy="274320"/>
          </a:xfrm>
          <a:prstGeom prst="rect">
            <a:avLst/>
          </a:prstGeom>
          <a:noFill/>
          <a:ln/>
        </p:spPr>
        <p:txBody>
          <a:bodyPr wrap="square" rtlCol="0" anchor="ctr"/>
          <a:lstStyle/>
          <a:p>
            <a:pPr marL="0" indent="0">
              <a:buNone/>
            </a:pPr>
            <a:r>
              <a:rPr lang="en-US" sz="1200" b="1" dirty="0">
                <a:solidFill>
                  <a:srgbClr val="1F4788"/>
                </a:solidFill>
              </a:rPr>
              <a:t>Data Processing Pipeline:</a:t>
            </a:r>
            <a:endParaRPr lang="en-US" sz="1200" dirty="0"/>
          </a:p>
        </p:txBody>
      </p:sp>
      <p:sp>
        <p:nvSpPr>
          <p:cNvPr id="15" name="Shape 13"/>
          <p:cNvSpPr/>
          <p:nvPr/>
        </p:nvSpPr>
        <p:spPr>
          <a:xfrm>
            <a:off x="548640" y="2926080"/>
            <a:ext cx="868680" cy="411480"/>
          </a:xfrm>
          <a:prstGeom prst="roundRect">
            <a:avLst/>
          </a:prstGeom>
          <a:solidFill>
            <a:srgbClr val="1F4788">
              <a:alpha val="70000"/>
            </a:srgbClr>
          </a:solidFill>
          <a:ln w="12700">
            <a:solidFill>
              <a:srgbClr val="1F4788"/>
            </a:solidFill>
            <a:prstDash val="solid"/>
          </a:ln>
        </p:spPr>
      </p:sp>
      <p:sp>
        <p:nvSpPr>
          <p:cNvPr id="16" name="Text 14"/>
          <p:cNvSpPr txBox="1"/>
          <p:nvPr/>
        </p:nvSpPr>
        <p:spPr>
          <a:xfrm>
            <a:off x="548640" y="2944368"/>
            <a:ext cx="868680" cy="374904"/>
          </a:xfrm>
          <a:prstGeom prst="rect">
            <a:avLst/>
          </a:prstGeom>
          <a:noFill/>
          <a:ln/>
        </p:spPr>
        <p:txBody>
          <a:bodyPr wrap="square" rtlCol="0" anchor="ctr"/>
          <a:lstStyle/>
          <a:p>
            <a:pPr marL="0" indent="0" algn="ctr">
              <a:buNone/>
            </a:pPr>
            <a:r>
              <a:rPr lang="en-US" sz="800" b="1" dirty="0">
                <a:solidFill>
                  <a:srgbClr val="1F1F1F"/>
                </a:solidFill>
              </a:rPr>
              <a:t>CSV Load</a:t>
            </a:r>
            <a:endParaRPr lang="en-US" sz="800" dirty="0"/>
          </a:p>
        </p:txBody>
      </p:sp>
      <p:sp>
        <p:nvSpPr>
          <p:cNvPr id="17" name="Shape 15"/>
          <p:cNvSpPr/>
          <p:nvPr/>
        </p:nvSpPr>
        <p:spPr>
          <a:xfrm rot="5400000">
            <a:off x="1463040" y="3108960"/>
            <a:ext cx="228600" cy="91440"/>
          </a:xfrm>
          <a:prstGeom prst="triangle">
            <a:avLst/>
          </a:prstGeom>
          <a:solidFill>
            <a:srgbClr val="1F4788"/>
          </a:solidFill>
          <a:ln/>
        </p:spPr>
      </p:sp>
      <p:sp>
        <p:nvSpPr>
          <p:cNvPr id="18" name="Shape 16"/>
          <p:cNvSpPr/>
          <p:nvPr/>
        </p:nvSpPr>
        <p:spPr>
          <a:xfrm>
            <a:off x="1600200" y="2926080"/>
            <a:ext cx="868680" cy="411480"/>
          </a:xfrm>
          <a:prstGeom prst="roundRect">
            <a:avLst/>
          </a:prstGeom>
          <a:solidFill>
            <a:srgbClr val="1F4788">
              <a:alpha val="67000"/>
            </a:srgbClr>
          </a:solidFill>
          <a:ln w="12700">
            <a:solidFill>
              <a:srgbClr val="1F4788"/>
            </a:solidFill>
            <a:prstDash val="solid"/>
          </a:ln>
        </p:spPr>
      </p:sp>
      <p:sp>
        <p:nvSpPr>
          <p:cNvPr id="19" name="Text 17"/>
          <p:cNvSpPr txBox="1"/>
          <p:nvPr/>
        </p:nvSpPr>
        <p:spPr>
          <a:xfrm>
            <a:off x="1600200" y="2944368"/>
            <a:ext cx="868680" cy="374904"/>
          </a:xfrm>
          <a:prstGeom prst="rect">
            <a:avLst/>
          </a:prstGeom>
          <a:noFill/>
          <a:ln/>
        </p:spPr>
        <p:txBody>
          <a:bodyPr wrap="square" rtlCol="0" anchor="ctr"/>
          <a:lstStyle/>
          <a:p>
            <a:pPr marL="0" indent="0" algn="ctr">
              <a:buNone/>
            </a:pPr>
            <a:r>
              <a:rPr lang="en-US" sz="800" b="1" dirty="0">
                <a:solidFill>
                  <a:srgbClr val="1F1F1F"/>
                </a:solidFill>
              </a:rPr>
              <a:t>Clean</a:t>
            </a:r>
            <a:endParaRPr lang="en-US" sz="800" dirty="0"/>
          </a:p>
        </p:txBody>
      </p:sp>
      <p:sp>
        <p:nvSpPr>
          <p:cNvPr id="20" name="Shape 18"/>
          <p:cNvSpPr/>
          <p:nvPr/>
        </p:nvSpPr>
        <p:spPr>
          <a:xfrm rot="5400000">
            <a:off x="2514600" y="3108960"/>
            <a:ext cx="228600" cy="91440"/>
          </a:xfrm>
          <a:prstGeom prst="triangle">
            <a:avLst/>
          </a:prstGeom>
          <a:solidFill>
            <a:srgbClr val="1F4788"/>
          </a:solidFill>
          <a:ln/>
        </p:spPr>
      </p:sp>
      <p:sp>
        <p:nvSpPr>
          <p:cNvPr id="21" name="Shape 19"/>
          <p:cNvSpPr/>
          <p:nvPr/>
        </p:nvSpPr>
        <p:spPr>
          <a:xfrm>
            <a:off x="2651760" y="2926080"/>
            <a:ext cx="868680" cy="411480"/>
          </a:xfrm>
          <a:prstGeom prst="roundRect">
            <a:avLst/>
          </a:prstGeom>
          <a:solidFill>
            <a:srgbClr val="1F4788">
              <a:alpha val="64000"/>
            </a:srgbClr>
          </a:solidFill>
          <a:ln w="12700">
            <a:solidFill>
              <a:srgbClr val="1F4788"/>
            </a:solidFill>
            <a:prstDash val="solid"/>
          </a:ln>
        </p:spPr>
      </p:sp>
      <p:sp>
        <p:nvSpPr>
          <p:cNvPr id="22" name="Text 20"/>
          <p:cNvSpPr txBox="1"/>
          <p:nvPr/>
        </p:nvSpPr>
        <p:spPr>
          <a:xfrm>
            <a:off x="2651760" y="2944368"/>
            <a:ext cx="868680" cy="374904"/>
          </a:xfrm>
          <a:prstGeom prst="rect">
            <a:avLst/>
          </a:prstGeom>
          <a:noFill/>
          <a:ln/>
        </p:spPr>
        <p:txBody>
          <a:bodyPr wrap="square" rtlCol="0" anchor="ctr"/>
          <a:lstStyle/>
          <a:p>
            <a:pPr marL="0" indent="0" algn="ctr">
              <a:buNone/>
            </a:pPr>
            <a:r>
              <a:rPr lang="en-US" sz="800" b="1" dirty="0">
                <a:solidFill>
                  <a:srgbClr val="1F1F1F"/>
                </a:solidFill>
              </a:rPr>
              <a:t>Extract MMR</a:t>
            </a:r>
            <a:endParaRPr lang="en-US" sz="800" dirty="0"/>
          </a:p>
        </p:txBody>
      </p:sp>
      <p:sp>
        <p:nvSpPr>
          <p:cNvPr id="23" name="Shape 21"/>
          <p:cNvSpPr/>
          <p:nvPr/>
        </p:nvSpPr>
        <p:spPr>
          <a:xfrm rot="5400000">
            <a:off x="3566160" y="3108960"/>
            <a:ext cx="228600" cy="91440"/>
          </a:xfrm>
          <a:prstGeom prst="triangle">
            <a:avLst/>
          </a:prstGeom>
          <a:solidFill>
            <a:srgbClr val="1F4788"/>
          </a:solidFill>
          <a:ln/>
        </p:spPr>
      </p:sp>
      <p:sp>
        <p:nvSpPr>
          <p:cNvPr id="24" name="Shape 22"/>
          <p:cNvSpPr/>
          <p:nvPr/>
        </p:nvSpPr>
        <p:spPr>
          <a:xfrm>
            <a:off x="3703320" y="2926080"/>
            <a:ext cx="868680" cy="411480"/>
          </a:xfrm>
          <a:prstGeom prst="roundRect">
            <a:avLst/>
          </a:prstGeom>
          <a:solidFill>
            <a:srgbClr val="1F4788">
              <a:alpha val="61000"/>
            </a:srgbClr>
          </a:solidFill>
          <a:ln w="12700">
            <a:solidFill>
              <a:srgbClr val="1F4788"/>
            </a:solidFill>
            <a:prstDash val="solid"/>
          </a:ln>
        </p:spPr>
      </p:sp>
      <p:sp>
        <p:nvSpPr>
          <p:cNvPr id="25" name="Text 23"/>
          <p:cNvSpPr txBox="1"/>
          <p:nvPr/>
        </p:nvSpPr>
        <p:spPr>
          <a:xfrm>
            <a:off x="3703320" y="2944368"/>
            <a:ext cx="868680" cy="374904"/>
          </a:xfrm>
          <a:prstGeom prst="rect">
            <a:avLst/>
          </a:prstGeom>
          <a:noFill/>
          <a:ln/>
        </p:spPr>
        <p:txBody>
          <a:bodyPr wrap="square" rtlCol="0" anchor="ctr"/>
          <a:lstStyle/>
          <a:p>
            <a:pPr marL="0" indent="0" algn="ctr">
              <a:buNone/>
            </a:pPr>
            <a:r>
              <a:rPr lang="en-US" sz="800" b="1" dirty="0">
                <a:solidFill>
                  <a:srgbClr val="1F1F1F"/>
                </a:solidFill>
              </a:rPr>
              <a:t>Convert</a:t>
            </a:r>
            <a:endParaRPr lang="en-US" sz="800" dirty="0"/>
          </a:p>
        </p:txBody>
      </p:sp>
      <p:sp>
        <p:nvSpPr>
          <p:cNvPr id="26" name="Shape 24"/>
          <p:cNvSpPr/>
          <p:nvPr/>
        </p:nvSpPr>
        <p:spPr>
          <a:xfrm rot="5400000">
            <a:off x="4617720" y="3108960"/>
            <a:ext cx="228600" cy="91440"/>
          </a:xfrm>
          <a:prstGeom prst="triangle">
            <a:avLst/>
          </a:prstGeom>
          <a:solidFill>
            <a:srgbClr val="1F4788"/>
          </a:solidFill>
          <a:ln/>
        </p:spPr>
      </p:sp>
      <p:sp>
        <p:nvSpPr>
          <p:cNvPr id="27" name="Shape 25"/>
          <p:cNvSpPr/>
          <p:nvPr/>
        </p:nvSpPr>
        <p:spPr>
          <a:xfrm>
            <a:off x="4754880" y="2926080"/>
            <a:ext cx="868680" cy="411480"/>
          </a:xfrm>
          <a:prstGeom prst="roundRect">
            <a:avLst/>
          </a:prstGeom>
          <a:solidFill>
            <a:srgbClr val="1F4788">
              <a:alpha val="58000"/>
            </a:srgbClr>
          </a:solidFill>
          <a:ln w="12700">
            <a:solidFill>
              <a:srgbClr val="1F4788"/>
            </a:solidFill>
            <a:prstDash val="solid"/>
          </a:ln>
        </p:spPr>
      </p:sp>
      <p:sp>
        <p:nvSpPr>
          <p:cNvPr id="28" name="Text 26"/>
          <p:cNvSpPr txBox="1"/>
          <p:nvPr/>
        </p:nvSpPr>
        <p:spPr>
          <a:xfrm>
            <a:off x="4754880" y="2944368"/>
            <a:ext cx="868680" cy="374904"/>
          </a:xfrm>
          <a:prstGeom prst="rect">
            <a:avLst/>
          </a:prstGeom>
          <a:noFill/>
          <a:ln/>
        </p:spPr>
        <p:txBody>
          <a:bodyPr wrap="square" rtlCol="0" anchor="ctr"/>
          <a:lstStyle/>
          <a:p>
            <a:pPr marL="0" indent="0" algn="ctr">
              <a:buNone/>
            </a:pPr>
            <a:r>
              <a:rPr lang="en-US" sz="800" b="1" dirty="0">
                <a:solidFill>
                  <a:srgbClr val="1F1F1F"/>
                </a:solidFill>
              </a:rPr>
              <a:t>Analyze</a:t>
            </a:r>
            <a:endParaRPr lang="en-US" sz="800" dirty="0"/>
          </a:p>
        </p:txBody>
      </p:sp>
      <p:sp>
        <p:nvSpPr>
          <p:cNvPr id="29" name="Shape 27"/>
          <p:cNvSpPr/>
          <p:nvPr/>
        </p:nvSpPr>
        <p:spPr>
          <a:xfrm rot="5400000">
            <a:off x="5669280" y="3108960"/>
            <a:ext cx="228600" cy="91440"/>
          </a:xfrm>
          <a:prstGeom prst="triangle">
            <a:avLst/>
          </a:prstGeom>
          <a:solidFill>
            <a:srgbClr val="1F4788"/>
          </a:solidFill>
          <a:ln/>
        </p:spPr>
      </p:sp>
      <p:sp>
        <p:nvSpPr>
          <p:cNvPr id="30" name="Shape 28"/>
          <p:cNvSpPr/>
          <p:nvPr/>
        </p:nvSpPr>
        <p:spPr>
          <a:xfrm>
            <a:off x="5806440" y="2926080"/>
            <a:ext cx="868680" cy="411480"/>
          </a:xfrm>
          <a:prstGeom prst="roundRect">
            <a:avLst/>
          </a:prstGeom>
          <a:solidFill>
            <a:srgbClr val="1F4788">
              <a:alpha val="55000"/>
            </a:srgbClr>
          </a:solidFill>
          <a:ln w="12700">
            <a:solidFill>
              <a:srgbClr val="1F4788"/>
            </a:solidFill>
            <a:prstDash val="solid"/>
          </a:ln>
        </p:spPr>
      </p:sp>
      <p:sp>
        <p:nvSpPr>
          <p:cNvPr id="31" name="Text 29"/>
          <p:cNvSpPr txBox="1"/>
          <p:nvPr/>
        </p:nvSpPr>
        <p:spPr>
          <a:xfrm>
            <a:off x="5806440" y="2944368"/>
            <a:ext cx="868680" cy="374904"/>
          </a:xfrm>
          <a:prstGeom prst="rect">
            <a:avLst/>
          </a:prstGeom>
          <a:noFill/>
          <a:ln/>
        </p:spPr>
        <p:txBody>
          <a:bodyPr wrap="square" rtlCol="0" anchor="ctr"/>
          <a:lstStyle/>
          <a:p>
            <a:pPr marL="0" indent="0" algn="ctr">
              <a:buNone/>
            </a:pPr>
            <a:r>
              <a:rPr lang="en-US" sz="800" b="1" dirty="0">
                <a:solidFill>
                  <a:srgbClr val="1F1F1F"/>
                </a:solidFill>
              </a:rPr>
              <a:t>Predict</a:t>
            </a:r>
            <a:endParaRPr lang="en-US" sz="800" dirty="0"/>
          </a:p>
        </p:txBody>
      </p:sp>
      <p:sp>
        <p:nvSpPr>
          <p:cNvPr id="32" name="Shape 30"/>
          <p:cNvSpPr/>
          <p:nvPr/>
        </p:nvSpPr>
        <p:spPr>
          <a:xfrm rot="5400000">
            <a:off x="6720840" y="3108960"/>
            <a:ext cx="228600" cy="91440"/>
          </a:xfrm>
          <a:prstGeom prst="triangle">
            <a:avLst/>
          </a:prstGeom>
          <a:solidFill>
            <a:srgbClr val="1F4788"/>
          </a:solidFill>
          <a:ln/>
        </p:spPr>
      </p:sp>
      <p:sp>
        <p:nvSpPr>
          <p:cNvPr id="33" name="Shape 31"/>
          <p:cNvSpPr/>
          <p:nvPr/>
        </p:nvSpPr>
        <p:spPr>
          <a:xfrm>
            <a:off x="6858000" y="2926080"/>
            <a:ext cx="868680" cy="411480"/>
          </a:xfrm>
          <a:prstGeom prst="roundRect">
            <a:avLst/>
          </a:prstGeom>
          <a:solidFill>
            <a:srgbClr val="1F4788">
              <a:alpha val="52000"/>
            </a:srgbClr>
          </a:solidFill>
          <a:ln w="12700">
            <a:solidFill>
              <a:srgbClr val="1F4788"/>
            </a:solidFill>
            <a:prstDash val="solid"/>
          </a:ln>
        </p:spPr>
      </p:sp>
      <p:sp>
        <p:nvSpPr>
          <p:cNvPr id="34" name="Text 32"/>
          <p:cNvSpPr txBox="1"/>
          <p:nvPr/>
        </p:nvSpPr>
        <p:spPr>
          <a:xfrm>
            <a:off x="6858000" y="2944368"/>
            <a:ext cx="868680" cy="374904"/>
          </a:xfrm>
          <a:prstGeom prst="rect">
            <a:avLst/>
          </a:prstGeom>
          <a:noFill/>
          <a:ln/>
        </p:spPr>
        <p:txBody>
          <a:bodyPr wrap="square" rtlCol="0" anchor="ctr"/>
          <a:lstStyle/>
          <a:p>
            <a:pPr marL="0" indent="0" algn="ctr">
              <a:buNone/>
            </a:pPr>
            <a:r>
              <a:rPr lang="en-US" sz="800" b="1" dirty="0">
                <a:solidFill>
                  <a:srgbClr val="1F1F1F"/>
                </a:solidFill>
              </a:rPr>
              <a:t>API</a:t>
            </a:r>
            <a:endParaRPr lang="en-US" sz="800" dirty="0"/>
          </a:p>
        </p:txBody>
      </p:sp>
      <p:sp>
        <p:nvSpPr>
          <p:cNvPr id="35" name="Shape 33"/>
          <p:cNvSpPr/>
          <p:nvPr/>
        </p:nvSpPr>
        <p:spPr>
          <a:xfrm rot="5400000">
            <a:off x="7772400" y="3108960"/>
            <a:ext cx="228600" cy="91440"/>
          </a:xfrm>
          <a:prstGeom prst="triangle">
            <a:avLst/>
          </a:prstGeom>
          <a:solidFill>
            <a:srgbClr val="1F4788"/>
          </a:solidFill>
          <a:ln/>
        </p:spPr>
      </p:sp>
      <p:sp>
        <p:nvSpPr>
          <p:cNvPr id="36" name="Shape 34"/>
          <p:cNvSpPr/>
          <p:nvPr/>
        </p:nvSpPr>
        <p:spPr>
          <a:xfrm>
            <a:off x="7909560" y="2926080"/>
            <a:ext cx="868680" cy="411480"/>
          </a:xfrm>
          <a:prstGeom prst="roundRect">
            <a:avLst/>
          </a:prstGeom>
          <a:solidFill>
            <a:srgbClr val="1F4788">
              <a:alpha val="49000"/>
            </a:srgbClr>
          </a:solidFill>
          <a:ln w="12700">
            <a:solidFill>
              <a:srgbClr val="1F4788"/>
            </a:solidFill>
            <a:prstDash val="solid"/>
          </a:ln>
        </p:spPr>
      </p:sp>
      <p:sp>
        <p:nvSpPr>
          <p:cNvPr id="37" name="Text 35"/>
          <p:cNvSpPr txBox="1"/>
          <p:nvPr/>
        </p:nvSpPr>
        <p:spPr>
          <a:xfrm>
            <a:off x="7909560" y="2944368"/>
            <a:ext cx="868680" cy="374904"/>
          </a:xfrm>
          <a:prstGeom prst="rect">
            <a:avLst/>
          </a:prstGeom>
          <a:noFill/>
          <a:ln/>
        </p:spPr>
        <p:txBody>
          <a:bodyPr wrap="square" rtlCol="0" anchor="ctr"/>
          <a:lstStyle/>
          <a:p>
            <a:pPr marL="0" indent="0" algn="ctr">
              <a:buNone/>
            </a:pPr>
            <a:r>
              <a:rPr lang="en-US" sz="800" b="1" dirty="0">
                <a:solidFill>
                  <a:srgbClr val="1F1F1F"/>
                </a:solidFill>
              </a:rPr>
              <a:t>Dashboard</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F4788"/>
        </a:solidFill>
        <a:effectLst/>
      </p:bgPr>
    </p:bg>
    <p:spTree>
      <p:nvGrpSpPr>
        <p:cNvPr id="1" name=""/>
        <p:cNvGrpSpPr/>
        <p:nvPr/>
      </p:nvGrpSpPr>
      <p:grpSpPr>
        <a:xfrm>
          <a:off x="0" y="0"/>
          <a:ext cx="0" cy="0"/>
          <a:chOff x="0" y="0"/>
          <a:chExt cx="0" cy="0"/>
        </a:xfrm>
      </p:grpSpPr>
      <p:sp>
        <p:nvSpPr>
          <p:cNvPr id="2" name="Text 0"/>
          <p:cNvSpPr txBox="1"/>
          <p:nvPr/>
        </p:nvSpPr>
        <p:spPr>
          <a:xfrm>
            <a:off x="457200" y="1371600"/>
            <a:ext cx="8229600" cy="914400"/>
          </a:xfrm>
          <a:prstGeom prst="rect">
            <a:avLst/>
          </a:prstGeom>
          <a:noFill/>
          <a:ln/>
        </p:spPr>
        <p:txBody>
          <a:bodyPr wrap="square" rtlCol="0" anchor="ctr"/>
          <a:lstStyle/>
          <a:p>
            <a:pPr marL="0" indent="0" algn="ctr">
              <a:buNone/>
            </a:pPr>
            <a:r>
              <a:rPr lang="en-US" sz="5400" b="1" dirty="0">
                <a:solidFill>
                  <a:srgbClr val="FFFFFF"/>
                </a:solidFill>
              </a:rPr>
              <a:t>Conclusion</a:t>
            </a:r>
            <a:endParaRPr lang="en-US" sz="5400" dirty="0"/>
          </a:p>
        </p:txBody>
      </p:sp>
      <p:sp>
        <p:nvSpPr>
          <p:cNvPr id="3" name="Text 1"/>
          <p:cNvSpPr txBox="1"/>
          <p:nvPr/>
        </p:nvSpPr>
        <p:spPr>
          <a:xfrm>
            <a:off x="457200" y="2377440"/>
            <a:ext cx="8229600" cy="548640"/>
          </a:xfrm>
          <a:prstGeom prst="rect">
            <a:avLst/>
          </a:prstGeom>
          <a:noFill/>
          <a:ln/>
        </p:spPr>
        <p:txBody>
          <a:bodyPr wrap="square" rtlCol="0" anchor="ctr"/>
          <a:lstStyle/>
          <a:p>
            <a:pPr marL="0" indent="0" algn="ctr">
              <a:buNone/>
            </a:pPr>
            <a:r>
              <a:rPr lang="en-US" sz="2800" dirty="0">
                <a:solidFill>
                  <a:srgbClr val="00BCD4"/>
                </a:solidFill>
              </a:rPr>
              <a:t>AI + Data + Sustainability → Actionable Insights</a:t>
            </a:r>
            <a:endParaRPr lang="en-US" sz="2800" dirty="0"/>
          </a:p>
        </p:txBody>
      </p:sp>
      <p:sp>
        <p:nvSpPr>
          <p:cNvPr id="4" name="Text 2"/>
          <p:cNvSpPr txBox="1"/>
          <p:nvPr/>
        </p:nvSpPr>
        <p:spPr>
          <a:xfrm>
            <a:off x="457200" y="3200400"/>
            <a:ext cx="8229600" cy="320040"/>
          </a:xfrm>
          <a:prstGeom prst="rect">
            <a:avLst/>
          </a:prstGeom>
          <a:noFill/>
          <a:ln/>
        </p:spPr>
        <p:txBody>
          <a:bodyPr wrap="square" rtlCol="0" anchor="ctr"/>
          <a:lstStyle/>
          <a:p>
            <a:pPr marL="0" indent="0" algn="ctr">
              <a:buNone/>
            </a:pPr>
            <a:r>
              <a:rPr lang="en-US" sz="1400" dirty="0">
                <a:solidFill>
                  <a:srgbClr val="FFFFFF"/>
                </a:solidFill>
              </a:rPr>
              <a:t>The project demonstrates how AI and data analysis support monitoring</a:t>
            </a:r>
            <a:endParaRPr lang="en-US" sz="1400" dirty="0"/>
          </a:p>
        </p:txBody>
      </p:sp>
      <p:sp>
        <p:nvSpPr>
          <p:cNvPr id="5" name="Text 3"/>
          <p:cNvSpPr txBox="1"/>
          <p:nvPr/>
        </p:nvSpPr>
        <p:spPr>
          <a:xfrm>
            <a:off x="457200" y="3566160"/>
            <a:ext cx="8229600" cy="320040"/>
          </a:xfrm>
          <a:prstGeom prst="rect">
            <a:avLst/>
          </a:prstGeom>
          <a:noFill/>
          <a:ln/>
        </p:spPr>
        <p:txBody>
          <a:bodyPr wrap="square" rtlCol="0" anchor="ctr"/>
          <a:lstStyle/>
          <a:p>
            <a:pPr marL="0" indent="0" algn="ctr">
              <a:buNone/>
            </a:pPr>
            <a:r>
              <a:rPr lang="en-US" sz="1400" dirty="0">
                <a:solidFill>
                  <a:srgbClr val="FFFFFF"/>
                </a:solidFill>
              </a:rPr>
              <a:t>of maternal health progress toward SDG 3.1 through trend analysis,</a:t>
            </a:r>
            <a:endParaRPr lang="en-US" sz="1400" dirty="0"/>
          </a:p>
        </p:txBody>
      </p:sp>
      <p:sp>
        <p:nvSpPr>
          <p:cNvPr id="6" name="Text 4"/>
          <p:cNvSpPr txBox="1"/>
          <p:nvPr/>
        </p:nvSpPr>
        <p:spPr>
          <a:xfrm>
            <a:off x="457200" y="3931920"/>
            <a:ext cx="8229600" cy="320040"/>
          </a:xfrm>
          <a:prstGeom prst="rect">
            <a:avLst/>
          </a:prstGeom>
          <a:noFill/>
          <a:ln/>
        </p:spPr>
        <p:txBody>
          <a:bodyPr wrap="square" rtlCol="0" anchor="ctr"/>
          <a:lstStyle/>
          <a:p>
            <a:pPr marL="0" indent="0" algn="ctr">
              <a:buNone/>
            </a:pPr>
            <a:r>
              <a:rPr lang="en-US" sz="1400" dirty="0">
                <a:solidFill>
                  <a:srgbClr val="FFFFFF"/>
                </a:solidFill>
              </a:rPr>
              <a:t>prediction modeling, and interactive visualization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695</Words>
  <Application>Microsoft Office PowerPoint</Application>
  <PresentationFormat>On-screen Show (16:9)</PresentationFormat>
  <Paragraphs>175</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RIVAN DSILVA</cp:lastModifiedBy>
  <cp:revision>2</cp:revision>
  <dcterms:created xsi:type="dcterms:W3CDTF">2026-09-21T12:01:54Z</dcterms:created>
  <dcterms:modified xsi:type="dcterms:W3CDTF">2026-09-21T12:21:10Z</dcterms:modified>
</cp:coreProperties>
</file>